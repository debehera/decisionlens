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DecisionLens turns a messy discussion into a governance-grade architecture decision record. The card on the right is an example of the output, built from fictional sample data. Fill in the presenter name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discovery interview found that the barrier is not formats or ownership. It is extraction: long threads and meeting notes mix options, arguments, the final call and the owner. This comes from first-hand experience, not market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 designed for the writer first: the architect who sits in many design discussions and owns the governance record. Readers benefit from clear, consistent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steps. Input can come from any source because it is just pasted text, so there are no integrations to build. The review step is mandatory and is what keeps the output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record shape was fixed on day one. The TOGAF layer is the differentiator: any tool can summarize a discussion, but only this one maps each decision to an ADM phase and an architecture domain. Owner, status and date are never filled by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are the whole of v1.0. Left out on purpose: keyword search, a dashboard, linked decisions, user accounts, integrations and Word export. They are on the future scope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point of the product. A black-box summary would not be trusted in governance. Human review and visible TOGAF tags make the record accountable. Free AI tiers may use submitted text, so the demo uses fictional or sanitized 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plays to existing strengths: C#, SQL, HTML and CSS. The AI sits behind one interface, so the free provider can be swapped without touching the screens. Free hosting sleeps when idle, so the first visit after a pause can take about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Weekdays are one hour and the weekend is three hours a day, so 13 build hours in total. The app goes live on day seven, leaving three days to polish, test and release. Each day has a proof of completion, and a cut list is defined in the blueprint in case time runs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was deliberately left out of v1.0 to protect the 13-hour budget. Search, dashboard and linked decisions are the natural next steps because they turn a log into a decision memory. Private AI matters most before any real company data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story: from a messy thread today to a governed, findable record that outlives the people who made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two bracketed placeholders with the live Render address and the GitHub repository link on Day 10, and add a product screenshot to the solution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024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81"/>
            <a:ext cx="10566400" cy="3957319"/>
          </a:xfrm>
          <a:prstGeom prst="rect">
            <a:avLst/>
          </a:prstGeom>
          <a:noFill/>
          <a:ln/>
        </p:spPr>
        <p:txBody>
          <a:bodyPr wrap="square" lIns="0" tIns="0" rIns="0" bIns="0" rtlCol="0" anchor="t"/>
          <a:lstStyle>
            <a:lvl1pPr algn="l" indent="0" marL="0">
              <a:lnSpc>
                <a:spcPct val="140000"/>
              </a:lnSpc>
              <a:buNone/>
              <a:defRPr lang="en-US" sz="1600" dirty="0">
                <a:solidFill>
                  <a:srgbClr val="1024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801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0243E"/>
                </a:solidFill>
                <a:latin typeface="EB Garamond" pitchFamily="34" charset="0"/>
                <a:ea typeface="EB Garamond" pitchFamily="34" charset="-122"/>
                <a:cs typeface="EB Garamond"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087881"/>
            <a:ext cx="10566400" cy="3957319"/>
          </a:xfrm>
          <a:prstGeom prst="rect">
            <a:avLst/>
          </a:prstGeom>
          <a:noFill/>
          <a:ln/>
        </p:spPr>
        <p:txBody>
          <a:bodyPr wrap="square" lIns="0" tIns="0" rIns="0" bIns="0" rtlCol="0" anchor="t"/>
          <a:lstStyle>
            <a:lvl1pPr algn="l" indent="0" marL="0">
              <a:lnSpc>
                <a:spcPct val="140000"/>
              </a:lnSpc>
              <a:buNone/>
              <a:defRPr lang="en-US" sz="1600" dirty="0">
                <a:solidFill>
                  <a:srgbClr val="10243E"/>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A02B"/>
                </a:solidFill>
                <a:latin typeface="IBM Plex Sans" pitchFamily="34" charset="0"/>
                <a:ea typeface="IBM Plex Sans" pitchFamily="34" charset="-122"/>
                <a:cs typeface="IBM Plex Sans" pitchFamily="34" charset="-120"/>
              </a:rPr>
              <a:t>TOGAF CAPSTONE · AB TALKS 60-DAY CLAUDE AI CHALLENGE</a:t>
            </a:r>
            <a:endParaRPr lang="en-US" sz="1200" dirty="0"/>
          </a:p>
        </p:txBody>
      </p:sp>
      <p:sp>
        <p:nvSpPr>
          <p:cNvPr id="3" name="Text 1"/>
          <p:cNvSpPr/>
          <p:nvPr>
            <p:ph type="title"/>
          </p:nvPr>
        </p:nvSpPr>
        <p:spPr>
          <a:xfrm>
            <a:off x="812800" y="2506980"/>
            <a:ext cx="5886450" cy="932180"/>
          </a:xfrm>
          <a:prstGeom prst="rect">
            <a:avLst/>
          </a:prstGeom>
          <a:noFill/>
          <a:ln/>
        </p:spPr>
        <p:txBody>
          <a:bodyPr wrap="square" lIns="0" tIns="0" rIns="0" bIns="0" rtlCol="0" anchor="t">
            <a:normAutofit/>
          </a:bodyPr>
          <a:lstStyle/>
          <a:p>
            <a:pPr algn="l" indent="0" marL="0">
              <a:lnSpc>
                <a:spcPts val="7140"/>
              </a:lnSpc>
              <a:buNone/>
            </a:pPr>
            <a:r>
              <a:rPr lang="en-US" sz="6800" b="1" i="0" dirty="0">
                <a:solidFill>
                  <a:srgbClr val="F6F3EC"/>
                </a:solidFill>
                <a:latin typeface="EB Garamond" pitchFamily="18" charset="0"/>
                <a:ea typeface="EB Garamond" pitchFamily="18" charset="-122"/>
                <a:cs typeface="EB Garamond" pitchFamily="18" charset="-120"/>
              </a:rPr>
              <a:t>DecisionLens</a:t>
            </a:r>
            <a:endParaRPr lang="en-US" sz="6800" dirty="0"/>
          </a:p>
        </p:txBody>
      </p:sp>
      <p:sp>
        <p:nvSpPr>
          <p:cNvPr id="4" name="Text 2"/>
          <p:cNvSpPr/>
          <p:nvPr/>
        </p:nvSpPr>
        <p:spPr>
          <a:xfrm>
            <a:off x="812800" y="3616960"/>
            <a:ext cx="588645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C9D3E0"/>
                </a:solidFill>
                <a:latin typeface="IBM Plex Sans" pitchFamily="34" charset="0"/>
                <a:ea typeface="IBM Plex Sans" pitchFamily="34" charset="-122"/>
                <a:cs typeface="IBM Plex Sans" pitchFamily="34" charset="-120"/>
              </a:rPr>
              <a:t>From messy discussion to governance-grade decision.</a:t>
            </a:r>
            <a:endParaRPr lang="en-US" sz="2200" dirty="0"/>
          </a:p>
        </p:txBody>
      </p:sp>
      <p:sp>
        <p:nvSpPr>
          <p:cNvPr id="5" name="Text 3"/>
          <p:cNvSpPr/>
          <p:nvPr/>
        </p:nvSpPr>
        <p:spPr>
          <a:xfrm>
            <a:off x="812800" y="579628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[Presenter name] · October 2026</a:t>
            </a:r>
            <a:endParaRPr lang="en-US" sz="1400" dirty="0"/>
          </a:p>
        </p:txBody>
      </p:sp>
      <p:sp>
        <p:nvSpPr>
          <p:cNvPr id="6" name="Shape 4"/>
          <p:cNvSpPr/>
          <p:nvPr/>
        </p:nvSpPr>
        <p:spPr>
          <a:xfrm>
            <a:off x="6988175" y="1908175"/>
            <a:ext cx="4387850" cy="2434590"/>
          </a:xfrm>
          <a:prstGeom prst="roundRect">
            <a:avLst>
              <a:gd name="adj" fmla="val 5086"/>
            </a:avLst>
          </a:prstGeom>
          <a:solidFill>
            <a:srgbClr val="1A3256"/>
          </a:solidFill>
          <a:ln w="6350">
            <a:solidFill>
              <a:srgbClr val="2F4A73"/>
            </a:solidFill>
            <a:prstDash val="solid"/>
          </a:ln>
        </p:spPr>
      </p:sp>
      <p:sp>
        <p:nvSpPr>
          <p:cNvPr id="7" name="Text 5"/>
          <p:cNvSpPr/>
          <p:nvPr/>
        </p:nvSpPr>
        <p:spPr>
          <a:xfrm>
            <a:off x="7244080" y="2164080"/>
            <a:ext cx="399232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3A02B"/>
                </a:solidFill>
                <a:latin typeface="IBM Plex Sans" pitchFamily="34" charset="0"/>
                <a:ea typeface="IBM Plex Sans" pitchFamily="34" charset="-122"/>
                <a:cs typeface="IBM Plex Sans" pitchFamily="34" charset="-120"/>
              </a:rPr>
              <a:t>DL-0007 · Accepted</a:t>
            </a:r>
            <a:endParaRPr lang="en-US" sz="1300" dirty="0"/>
          </a:p>
        </p:txBody>
      </p:sp>
      <p:sp>
        <p:nvSpPr>
          <p:cNvPr id="8" name="Text 6"/>
          <p:cNvSpPr/>
          <p:nvPr/>
        </p:nvSpPr>
        <p:spPr>
          <a:xfrm>
            <a:off x="7244080" y="2496820"/>
            <a:ext cx="3992321" cy="6350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6F3EC"/>
                </a:solidFill>
                <a:latin typeface="EB Garamond" pitchFamily="18" charset="0"/>
                <a:ea typeface="EB Garamond" pitchFamily="18" charset="-122"/>
                <a:cs typeface="EB Garamond" pitchFamily="18" charset="-120"/>
              </a:rPr>
              <a:t>Publish order events through a message broker</a:t>
            </a:r>
            <a:endParaRPr lang="en-US" sz="2000" dirty="0"/>
          </a:p>
        </p:txBody>
      </p:sp>
      <p:sp>
        <p:nvSpPr>
          <p:cNvPr id="9" name="Text 7"/>
          <p:cNvSpPr/>
          <p:nvPr/>
        </p:nvSpPr>
        <p:spPr>
          <a:xfrm>
            <a:off x="7244080" y="3208020"/>
            <a:ext cx="399232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ADM phase: C. Information Systems Architectures</a:t>
            </a:r>
            <a:endParaRPr lang="en-US" sz="1300" dirty="0"/>
          </a:p>
        </p:txBody>
      </p:sp>
      <p:sp>
        <p:nvSpPr>
          <p:cNvPr id="10" name="Text 8"/>
          <p:cNvSpPr/>
          <p:nvPr/>
        </p:nvSpPr>
        <p:spPr>
          <a:xfrm>
            <a:off x="7244080" y="3540760"/>
            <a:ext cx="399232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Domain: Application</a:t>
            </a:r>
            <a:endParaRPr lang="en-US" sz="1300" dirty="0"/>
          </a:p>
        </p:txBody>
      </p:sp>
      <p:sp>
        <p:nvSpPr>
          <p:cNvPr id="11" name="Text 9"/>
          <p:cNvSpPr/>
          <p:nvPr/>
        </p:nvSpPr>
        <p:spPr>
          <a:xfrm>
            <a:off x="7244080" y="3873500"/>
            <a:ext cx="39923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3BF"/>
                </a:solidFill>
                <a:latin typeface="IBM Plex Sans" pitchFamily="34" charset="0"/>
                <a:ea typeface="IBM Plex Sans" pitchFamily="34" charset="-122"/>
                <a:cs typeface="IBM Plex Sans" pitchFamily="34" charset="-120"/>
              </a:rPr>
              <a:t>AI drafted · Architect confirmed · Example record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6B66"/>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p:nvPr>
            <p:ph type="title"/>
          </p:nvPr>
        </p:nvSpPr>
        <p:spPr>
          <a:xfrm>
            <a:off x="812800" y="1280160"/>
            <a:ext cx="10883392"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43E"/>
                </a:solidFill>
                <a:latin typeface="EB Garamond" pitchFamily="18" charset="0"/>
                <a:ea typeface="EB Garamond" pitchFamily="18" charset="-122"/>
                <a:cs typeface="EB Garamond" pitchFamily="18" charset="-120"/>
              </a:rPr>
              <a:t>Architecture decisions vanish into chats, calls and inboxes</a:t>
            </a:r>
            <a:endParaRPr lang="en-US" sz="3600" dirty="0"/>
          </a:p>
        </p:txBody>
      </p:sp>
      <p:sp>
        <p:nvSpPr>
          <p:cNvPr id="4" name="Shape 2"/>
          <p:cNvSpPr/>
          <p:nvPr/>
        </p:nvSpPr>
        <p:spPr>
          <a:xfrm>
            <a:off x="815975" y="2543175"/>
            <a:ext cx="3380264" cy="1634490"/>
          </a:xfrm>
          <a:prstGeom prst="roundRect">
            <a:avLst>
              <a:gd name="adj" fmla="val 6022"/>
            </a:avLst>
          </a:prstGeom>
          <a:solidFill>
            <a:srgbClr val="FFFDF8"/>
          </a:solidFill>
          <a:ln w="6350">
            <a:solidFill>
              <a:srgbClr val="DDD6C8"/>
            </a:solidFill>
            <a:prstDash val="solid"/>
          </a:ln>
        </p:spPr>
      </p:sp>
      <p:sp>
        <p:nvSpPr>
          <p:cNvPr id="5" name="Text 3"/>
          <p:cNvSpPr/>
          <p:nvPr/>
        </p:nvSpPr>
        <p:spPr>
          <a:xfrm>
            <a:off x="1071880" y="279908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Where it happens</a:t>
            </a:r>
            <a:endParaRPr lang="en-US" sz="1800" dirty="0"/>
          </a:p>
        </p:txBody>
      </p:sp>
      <p:sp>
        <p:nvSpPr>
          <p:cNvPr id="6" name="Text 4"/>
          <p:cNvSpPr/>
          <p:nvPr/>
        </p:nvSpPr>
        <p:spPr>
          <a:xfrm>
            <a:off x="1071880" y="3175000"/>
            <a:ext cx="295450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Chat threads, meeting notes, email and ticket comments each hold a piece of the decision.</a:t>
            </a:r>
            <a:endParaRPr lang="en-US" sz="1400" dirty="0"/>
          </a:p>
        </p:txBody>
      </p:sp>
      <p:sp>
        <p:nvSpPr>
          <p:cNvPr id="7" name="Shape 5"/>
          <p:cNvSpPr/>
          <p:nvPr/>
        </p:nvSpPr>
        <p:spPr>
          <a:xfrm>
            <a:off x="4405789" y="2543175"/>
            <a:ext cx="3380343" cy="1634490"/>
          </a:xfrm>
          <a:prstGeom prst="roundRect">
            <a:avLst>
              <a:gd name="adj" fmla="val 6022"/>
            </a:avLst>
          </a:prstGeom>
          <a:solidFill>
            <a:srgbClr val="FFFDF8"/>
          </a:solidFill>
          <a:ln w="6350">
            <a:solidFill>
              <a:srgbClr val="DDD6C8"/>
            </a:solidFill>
            <a:prstDash val="solid"/>
          </a:ln>
        </p:spPr>
      </p:sp>
      <p:sp>
        <p:nvSpPr>
          <p:cNvPr id="8" name="Text 6"/>
          <p:cNvSpPr/>
          <p:nvPr/>
        </p:nvSpPr>
        <p:spPr>
          <a:xfrm>
            <a:off x="4661694" y="279908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What goes wrong</a:t>
            </a:r>
            <a:endParaRPr lang="en-US" sz="1800" dirty="0"/>
          </a:p>
        </p:txBody>
      </p:sp>
      <p:sp>
        <p:nvSpPr>
          <p:cNvPr id="9" name="Text 7"/>
          <p:cNvSpPr/>
          <p:nvPr/>
        </p:nvSpPr>
        <p:spPr>
          <a:xfrm>
            <a:off x="4661694" y="317500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Months later nobody can explain why the system is built this way, and governance cannot trace it.</a:t>
            </a:r>
            <a:endParaRPr lang="en-US" sz="1400" dirty="0"/>
          </a:p>
        </p:txBody>
      </p:sp>
      <p:sp>
        <p:nvSpPr>
          <p:cNvPr id="10" name="Shape 8"/>
          <p:cNvSpPr/>
          <p:nvPr/>
        </p:nvSpPr>
        <p:spPr>
          <a:xfrm>
            <a:off x="7995682" y="2543175"/>
            <a:ext cx="3380343" cy="1634490"/>
          </a:xfrm>
          <a:prstGeom prst="roundRect">
            <a:avLst>
              <a:gd name="adj" fmla="val 6022"/>
            </a:avLst>
          </a:prstGeom>
          <a:solidFill>
            <a:srgbClr val="FFFDF8"/>
          </a:solidFill>
          <a:ln w="6350">
            <a:solidFill>
              <a:srgbClr val="DDD6C8"/>
            </a:solidFill>
            <a:prstDash val="solid"/>
          </a:ln>
        </p:spPr>
      </p:sp>
      <p:sp>
        <p:nvSpPr>
          <p:cNvPr id="11" name="Text 9"/>
          <p:cNvSpPr/>
          <p:nvPr/>
        </p:nvSpPr>
        <p:spPr>
          <a:xfrm>
            <a:off x="8251587" y="279908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The real barrier</a:t>
            </a:r>
            <a:endParaRPr lang="en-US" sz="1800" dirty="0"/>
          </a:p>
        </p:txBody>
      </p:sp>
      <p:sp>
        <p:nvSpPr>
          <p:cNvPr id="12" name="Text 10"/>
          <p:cNvSpPr/>
          <p:nvPr/>
        </p:nvSpPr>
        <p:spPr>
          <a:xfrm>
            <a:off x="8251587" y="3175000"/>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Not a missing template. Pulling the decision out of the noise is slow, so it gets skipped.</a:t>
            </a:r>
            <a:endParaRPr lang="en-US" sz="1400" dirty="0"/>
          </a:p>
        </p:txBody>
      </p:sp>
      <p:sp>
        <p:nvSpPr>
          <p:cNvPr id="13" name="Text 11"/>
          <p:cNvSpPr/>
          <p:nvPr/>
        </p:nvSpPr>
        <p:spPr>
          <a:xfrm>
            <a:off x="812800" y="4434840"/>
            <a:ext cx="10566400" cy="723900"/>
          </a:xfrm>
          <a:prstGeom prst="roundRect">
            <a:avLst>
              <a:gd name="adj" fmla="val 14035"/>
            </a:avLst>
          </a:prstGeom>
          <a:solidFill>
            <a:srgbClr val="10243E"/>
          </a:solidFill>
          <a:ln/>
        </p:spPr>
        <p:txBody>
          <a:bodyPr wrap="square" lIns="224242" tIns="173442" rIns="0" bIns="148042" rtlCol="0" anchor="t">
            <a:normAutofit/>
          </a:bodyPr>
          <a:lstStyle/>
          <a:p>
            <a:pPr algn="l" indent="0" marL="0">
              <a:lnSpc>
                <a:spcPts val="2500"/>
              </a:lnSpc>
              <a:buNone/>
            </a:pPr>
            <a:r>
              <a:rPr lang="en-US" sz="2000" i="1" dirty="0">
                <a:solidFill>
                  <a:srgbClr val="F6F3EC"/>
                </a:solidFill>
                <a:latin typeface="EB Garamond" pitchFamily="18" charset="0"/>
                <a:ea typeface="EB Garamond" pitchFamily="18" charset="-122"/>
                <a:cs typeface="EB Garamond" pitchFamily="18" charset="-120"/>
              </a:rPr>
              <a:t>Architectural amnesia: the system outlives the memory of why it exists.</a:t>
            </a:r>
            <a:endParaRPr lang="en-US" sz="2000" dirty="0"/>
          </a:p>
        </p:txBody>
      </p:sp>
      <p:sp>
        <p:nvSpPr>
          <p:cNvPr id="14" name="Text 12"/>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15" name="Text 13"/>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6B66"/>
                </a:solidFill>
                <a:latin typeface="IBM Plex Sans" pitchFamily="34" charset="0"/>
                <a:ea typeface="IBM Plex Sans" pitchFamily="34" charset="-122"/>
                <a:cs typeface="IBM Plex Sans" pitchFamily="34" charset="-120"/>
              </a:rPr>
              <a:t>TARGET USERS</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43E"/>
                </a:solidFill>
                <a:latin typeface="EB Garamond" pitchFamily="18" charset="0"/>
                <a:ea typeface="EB Garamond" pitchFamily="18" charset="-122"/>
                <a:cs typeface="EB Garamond" pitchFamily="18" charset="-120"/>
              </a:rPr>
              <a:t>One writer, several readers</a:t>
            </a:r>
            <a:endParaRPr lang="en-US" sz="3600" dirty="0"/>
          </a:p>
        </p:txBody>
      </p:sp>
      <p:sp>
        <p:nvSpPr>
          <p:cNvPr id="4" name="Shape 2"/>
          <p:cNvSpPr/>
          <p:nvPr/>
        </p:nvSpPr>
        <p:spPr>
          <a:xfrm>
            <a:off x="812800" y="2037080"/>
            <a:ext cx="4064000" cy="3124200"/>
          </a:xfrm>
          <a:prstGeom prst="roundRect">
            <a:avLst>
              <a:gd name="adj" fmla="val 3252"/>
            </a:avLst>
          </a:prstGeom>
          <a:solidFill>
            <a:srgbClr val="10243E"/>
          </a:solidFill>
          <a:ln/>
        </p:spPr>
      </p:sp>
      <p:sp>
        <p:nvSpPr>
          <p:cNvPr id="5" name="Text 3"/>
          <p:cNvSpPr/>
          <p:nvPr/>
        </p:nvSpPr>
        <p:spPr>
          <a:xfrm>
            <a:off x="1117600" y="2341880"/>
            <a:ext cx="355803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A02B"/>
                </a:solidFill>
                <a:latin typeface="IBM Plex Sans" pitchFamily="34" charset="0"/>
                <a:ea typeface="IBM Plex Sans" pitchFamily="34" charset="-122"/>
                <a:cs typeface="IBM Plex Sans" pitchFamily="34" charset="-120"/>
              </a:rPr>
              <a:t>PRIMARY USER</a:t>
            </a:r>
            <a:endParaRPr lang="en-US" sz="1200" dirty="0"/>
          </a:p>
        </p:txBody>
      </p:sp>
      <p:sp>
        <p:nvSpPr>
          <p:cNvPr id="6" name="Text 4"/>
          <p:cNvSpPr/>
          <p:nvPr/>
        </p:nvSpPr>
        <p:spPr>
          <a:xfrm>
            <a:off x="1117600" y="2682241"/>
            <a:ext cx="3558032" cy="726440"/>
          </a:xfrm>
          <a:prstGeom prst="rect">
            <a:avLst/>
          </a:prstGeom>
          <a:noFill/>
          <a:ln/>
        </p:spPr>
        <p:txBody>
          <a:bodyPr wrap="square" lIns="0" tIns="0" rIns="0" bIns="0" rtlCol="0" anchor="t">
            <a:normAutofit/>
          </a:bodyPr>
          <a:lstStyle/>
          <a:p>
            <a:pPr algn="l" indent="0" marL="0">
              <a:lnSpc>
                <a:spcPts val="2760"/>
              </a:lnSpc>
              <a:buNone/>
            </a:pPr>
            <a:r>
              <a:rPr lang="en-US" sz="2400" b="1" dirty="0">
                <a:solidFill>
                  <a:srgbClr val="F6F3EC"/>
                </a:solidFill>
                <a:latin typeface="EB Garamond" pitchFamily="18" charset="0"/>
                <a:ea typeface="EB Garamond" pitchFamily="18" charset="-122"/>
                <a:cs typeface="EB Garamond" pitchFamily="18" charset="-120"/>
              </a:rPr>
              <a:t>Enterprise or solution architect</a:t>
            </a:r>
            <a:endParaRPr lang="en-US" sz="2400" dirty="0"/>
          </a:p>
        </p:txBody>
      </p:sp>
      <p:sp>
        <p:nvSpPr>
          <p:cNvPr id="7" name="Text 5"/>
          <p:cNvSpPr/>
          <p:nvPr/>
        </p:nvSpPr>
        <p:spPr>
          <a:xfrm>
            <a:off x="1117600" y="3510280"/>
            <a:ext cx="3558032"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E0"/>
                </a:solidFill>
                <a:latin typeface="IBM Plex Sans" pitchFamily="34" charset="0"/>
                <a:ea typeface="IBM Plex Sans" pitchFamily="34" charset="-122"/>
                <a:cs typeface="IBM Plex Sans" pitchFamily="34" charset="-120"/>
              </a:rPr>
              <a:t>Captures decisions for governance. Needs speed, TOGAF-aligned structure and control over the final wording.</a:t>
            </a:r>
            <a:endParaRPr lang="en-US" sz="1400" dirty="0"/>
          </a:p>
        </p:txBody>
      </p:sp>
      <p:sp>
        <p:nvSpPr>
          <p:cNvPr id="8" name="Shape 6"/>
          <p:cNvSpPr/>
          <p:nvPr/>
        </p:nvSpPr>
        <p:spPr>
          <a:xfrm>
            <a:off x="5083175" y="2040255"/>
            <a:ext cx="6292850" cy="933450"/>
          </a:xfrm>
          <a:prstGeom prst="roundRect">
            <a:avLst>
              <a:gd name="adj" fmla="val 10544"/>
            </a:avLst>
          </a:prstGeom>
          <a:solidFill>
            <a:srgbClr val="FFFDF8"/>
          </a:solidFill>
          <a:ln w="6350">
            <a:solidFill>
              <a:srgbClr val="DDD6C8"/>
            </a:solidFill>
            <a:prstDash val="solid"/>
          </a:ln>
        </p:spPr>
      </p:sp>
      <p:sp>
        <p:nvSpPr>
          <p:cNvPr id="9" name="Text 7"/>
          <p:cNvSpPr/>
          <p:nvPr/>
        </p:nvSpPr>
        <p:spPr>
          <a:xfrm>
            <a:off x="5339080" y="2219961"/>
            <a:ext cx="59544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Tech leads and developers</a:t>
            </a:r>
            <a:endParaRPr lang="en-US" sz="1800" dirty="0"/>
          </a:p>
        </p:txBody>
      </p:sp>
      <p:sp>
        <p:nvSpPr>
          <p:cNvPr id="10" name="Text 8"/>
          <p:cNvSpPr/>
          <p:nvPr/>
        </p:nvSpPr>
        <p:spPr>
          <a:xfrm>
            <a:off x="5339080" y="2545080"/>
            <a:ext cx="59544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Understand why a design is the way it is, without asking around.</a:t>
            </a:r>
            <a:endParaRPr lang="en-US" sz="1400" dirty="0"/>
          </a:p>
        </p:txBody>
      </p:sp>
      <p:sp>
        <p:nvSpPr>
          <p:cNvPr id="11" name="Shape 9"/>
          <p:cNvSpPr/>
          <p:nvPr/>
        </p:nvSpPr>
        <p:spPr>
          <a:xfrm>
            <a:off x="5083175" y="3132455"/>
            <a:ext cx="6292850" cy="933450"/>
          </a:xfrm>
          <a:prstGeom prst="roundRect">
            <a:avLst>
              <a:gd name="adj" fmla="val 10544"/>
            </a:avLst>
          </a:prstGeom>
          <a:solidFill>
            <a:srgbClr val="FFFDF8"/>
          </a:solidFill>
          <a:ln w="6350">
            <a:solidFill>
              <a:srgbClr val="DDD6C8"/>
            </a:solidFill>
            <a:prstDash val="solid"/>
          </a:ln>
        </p:spPr>
      </p:sp>
      <p:sp>
        <p:nvSpPr>
          <p:cNvPr id="12" name="Text 10"/>
          <p:cNvSpPr/>
          <p:nvPr/>
        </p:nvSpPr>
        <p:spPr>
          <a:xfrm>
            <a:off x="5339080" y="3312161"/>
            <a:ext cx="59544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Project managers and product owners</a:t>
            </a:r>
            <a:endParaRPr lang="en-US" sz="1800" dirty="0"/>
          </a:p>
        </p:txBody>
      </p:sp>
      <p:sp>
        <p:nvSpPr>
          <p:cNvPr id="13" name="Text 11"/>
          <p:cNvSpPr/>
          <p:nvPr/>
        </p:nvSpPr>
        <p:spPr>
          <a:xfrm>
            <a:off x="5339080" y="3637280"/>
            <a:ext cx="59544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Know what was decided and what it costs.</a:t>
            </a:r>
            <a:endParaRPr lang="en-US" sz="1400" dirty="0"/>
          </a:p>
        </p:txBody>
      </p:sp>
      <p:sp>
        <p:nvSpPr>
          <p:cNvPr id="14" name="Shape 12"/>
          <p:cNvSpPr/>
          <p:nvPr/>
        </p:nvSpPr>
        <p:spPr>
          <a:xfrm>
            <a:off x="5083175" y="4224655"/>
            <a:ext cx="6292850" cy="933450"/>
          </a:xfrm>
          <a:prstGeom prst="roundRect">
            <a:avLst>
              <a:gd name="adj" fmla="val 10544"/>
            </a:avLst>
          </a:prstGeom>
          <a:solidFill>
            <a:srgbClr val="FFFDF8"/>
          </a:solidFill>
          <a:ln w="6350">
            <a:solidFill>
              <a:srgbClr val="DDD6C8"/>
            </a:solidFill>
            <a:prstDash val="solid"/>
          </a:ln>
        </p:spPr>
      </p:sp>
      <p:sp>
        <p:nvSpPr>
          <p:cNvPr id="15" name="Text 13"/>
          <p:cNvSpPr/>
          <p:nvPr/>
        </p:nvSpPr>
        <p:spPr>
          <a:xfrm>
            <a:off x="5339080" y="4404361"/>
            <a:ext cx="5954471"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Governance reviewers</a:t>
            </a:r>
            <a:endParaRPr lang="en-US" sz="1800" dirty="0"/>
          </a:p>
        </p:txBody>
      </p:sp>
      <p:sp>
        <p:nvSpPr>
          <p:cNvPr id="16" name="Text 14"/>
          <p:cNvSpPr/>
          <p:nvPr/>
        </p:nvSpPr>
        <p:spPr>
          <a:xfrm>
            <a:off x="5339080" y="4729480"/>
            <a:ext cx="59544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Audit phase, domain, owner, status and date on every record.</a:t>
            </a:r>
            <a:endParaRPr lang="en-US" sz="1400" dirty="0"/>
          </a:p>
        </p:txBody>
      </p:sp>
      <p:sp>
        <p:nvSpPr>
          <p:cNvPr id="17" name="Text 15"/>
          <p:cNvSpPr/>
          <p:nvPr/>
        </p:nvSpPr>
        <p:spPr>
          <a:xfrm>
            <a:off x="812800" y="6238241"/>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18" name="Text 16"/>
          <p:cNvSpPr/>
          <p:nvPr/>
        </p:nvSpPr>
        <p:spPr>
          <a:xfrm>
            <a:off x="10058400" y="6238241"/>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6B66"/>
                </a:solidFill>
                <a:latin typeface="IBM Plex Sans" pitchFamily="34" charset="0"/>
                <a:ea typeface="IBM Plex Sans" pitchFamily="34" charset="-122"/>
                <a:cs typeface="IBM Plex Sans" pitchFamily="34" charset="-120"/>
              </a:rPr>
              <a:t>THE SOLUTION</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43E"/>
                </a:solidFill>
                <a:latin typeface="EB Garamond" pitchFamily="18" charset="0"/>
                <a:ea typeface="EB Garamond" pitchFamily="18" charset="-122"/>
                <a:cs typeface="EB Garamond" pitchFamily="18" charset="-120"/>
              </a:rPr>
              <a:t>Paste. Draft. Review. Save.</a:t>
            </a:r>
            <a:endParaRPr lang="en-US" sz="3600" dirty="0"/>
          </a:p>
        </p:txBody>
      </p:sp>
      <p:sp>
        <p:nvSpPr>
          <p:cNvPr id="4" name="Shape 2"/>
          <p:cNvSpPr/>
          <p:nvPr/>
        </p:nvSpPr>
        <p:spPr>
          <a:xfrm>
            <a:off x="815975" y="2040255"/>
            <a:ext cx="2216150" cy="1786890"/>
          </a:xfrm>
          <a:prstGeom prst="roundRect">
            <a:avLst>
              <a:gd name="adj" fmla="val 5508"/>
            </a:avLst>
          </a:prstGeom>
          <a:solidFill>
            <a:srgbClr val="FFFDF8"/>
          </a:solidFill>
          <a:ln w="6350">
            <a:solidFill>
              <a:srgbClr val="DDD6C8"/>
            </a:solidFill>
            <a:prstDash val="solid"/>
          </a:ln>
        </p:spPr>
      </p:sp>
      <p:sp>
        <p:nvSpPr>
          <p:cNvPr id="5" name="Text 3"/>
          <p:cNvSpPr/>
          <p:nvPr/>
        </p:nvSpPr>
        <p:spPr>
          <a:xfrm>
            <a:off x="1021080" y="2245361"/>
            <a:ext cx="18601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1 · Paste</a:t>
            </a:r>
            <a:endParaRPr lang="en-US" sz="2000" dirty="0"/>
          </a:p>
        </p:txBody>
      </p:sp>
      <p:sp>
        <p:nvSpPr>
          <p:cNvPr id="6" name="Text 4"/>
          <p:cNvSpPr/>
          <p:nvPr/>
        </p:nvSpPr>
        <p:spPr>
          <a:xfrm>
            <a:off x="1021080" y="2626361"/>
            <a:ext cx="1860118"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chat thread, meeting notes or an email. Fictional or sanitized text only.</a:t>
            </a:r>
            <a:endParaRPr lang="en-US" sz="1400" dirty="0"/>
          </a:p>
        </p:txBody>
      </p:sp>
      <p:pic>
        <p:nvPicPr>
          <p:cNvPr id="7" name="Image 0" descr="arrow-right">    </p:cNvPr>
          <p:cNvPicPr>
            <a:picLocks noChangeAspect="1"/>
          </p:cNvPicPr>
          <p:nvPr/>
        </p:nvPicPr>
        <p:blipFill>
          <a:blip r:embed="rId1"/>
          <a:srcRect l="0" r="0" t="0" b="0"/>
          <a:stretch/>
        </p:blipFill>
        <p:spPr>
          <a:xfrm>
            <a:off x="3136900" y="2806700"/>
            <a:ext cx="355600" cy="254000"/>
          </a:xfrm>
          <a:prstGeom prst="rect">
            <a:avLst/>
          </a:prstGeom>
        </p:spPr>
      </p:pic>
      <p:sp>
        <p:nvSpPr>
          <p:cNvPr id="8" name="Shape 5"/>
          <p:cNvSpPr/>
          <p:nvPr/>
        </p:nvSpPr>
        <p:spPr>
          <a:xfrm>
            <a:off x="3597275" y="2164716"/>
            <a:ext cx="2216150" cy="1537970"/>
          </a:xfrm>
          <a:prstGeom prst="roundRect">
            <a:avLst>
              <a:gd name="adj" fmla="val 6400"/>
            </a:avLst>
          </a:prstGeom>
          <a:solidFill>
            <a:srgbClr val="FFFDF8"/>
          </a:solidFill>
          <a:ln w="6350">
            <a:solidFill>
              <a:srgbClr val="DDD6C8"/>
            </a:solidFill>
            <a:prstDash val="solid"/>
          </a:ln>
        </p:spPr>
      </p:sp>
      <p:sp>
        <p:nvSpPr>
          <p:cNvPr id="9" name="Text 6"/>
          <p:cNvSpPr/>
          <p:nvPr/>
        </p:nvSpPr>
        <p:spPr>
          <a:xfrm>
            <a:off x="3802380" y="2369820"/>
            <a:ext cx="18601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2 · Draft</a:t>
            </a:r>
            <a:endParaRPr lang="en-US" sz="2000" dirty="0"/>
          </a:p>
        </p:txBody>
      </p:sp>
      <p:sp>
        <p:nvSpPr>
          <p:cNvPr id="10" name="Text 7"/>
          <p:cNvSpPr/>
          <p:nvPr/>
        </p:nvSpPr>
        <p:spPr>
          <a:xfrm>
            <a:off x="3802380" y="2750820"/>
            <a:ext cx="186011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AI fills six content fields and suggests the TOGAF tags.</a:t>
            </a:r>
            <a:endParaRPr lang="en-US" sz="1400" dirty="0"/>
          </a:p>
        </p:txBody>
      </p:sp>
      <p:pic>
        <p:nvPicPr>
          <p:cNvPr id="11" name="Image 1" descr="arrow-right">    </p:cNvPr>
          <p:cNvPicPr>
            <a:picLocks noChangeAspect="1"/>
          </p:cNvPicPr>
          <p:nvPr/>
        </p:nvPicPr>
        <p:blipFill>
          <a:blip r:embed="rId2"/>
          <a:srcRect l="0" r="0" t="0" b="0"/>
          <a:stretch/>
        </p:blipFill>
        <p:spPr>
          <a:xfrm>
            <a:off x="5918200" y="2806700"/>
            <a:ext cx="355600" cy="254000"/>
          </a:xfrm>
          <a:prstGeom prst="rect">
            <a:avLst/>
          </a:prstGeom>
        </p:spPr>
      </p:pic>
      <p:sp>
        <p:nvSpPr>
          <p:cNvPr id="12" name="Shape 8"/>
          <p:cNvSpPr/>
          <p:nvPr/>
        </p:nvSpPr>
        <p:spPr>
          <a:xfrm>
            <a:off x="6378575" y="2164716"/>
            <a:ext cx="2216150" cy="1537970"/>
          </a:xfrm>
          <a:prstGeom prst="roundRect">
            <a:avLst>
              <a:gd name="adj" fmla="val 6400"/>
            </a:avLst>
          </a:prstGeom>
          <a:solidFill>
            <a:srgbClr val="FFFDF8"/>
          </a:solidFill>
          <a:ln w="6350">
            <a:solidFill>
              <a:srgbClr val="DDD6C8"/>
            </a:solidFill>
            <a:prstDash val="solid"/>
          </a:ln>
        </p:spPr>
      </p:sp>
      <p:sp>
        <p:nvSpPr>
          <p:cNvPr id="13" name="Text 9"/>
          <p:cNvSpPr/>
          <p:nvPr/>
        </p:nvSpPr>
        <p:spPr>
          <a:xfrm>
            <a:off x="6583680" y="2369820"/>
            <a:ext cx="18601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3 · Review</a:t>
            </a:r>
            <a:endParaRPr lang="en-US" sz="2000" dirty="0"/>
          </a:p>
        </p:txBody>
      </p:sp>
      <p:sp>
        <p:nvSpPr>
          <p:cNvPr id="14" name="Text 10"/>
          <p:cNvSpPr/>
          <p:nvPr/>
        </p:nvSpPr>
        <p:spPr>
          <a:xfrm>
            <a:off x="6583680" y="2750820"/>
            <a:ext cx="186011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The architect edits, sets owner, status and date, and confirms.</a:t>
            </a:r>
            <a:endParaRPr lang="en-US" sz="1400" dirty="0"/>
          </a:p>
        </p:txBody>
      </p:sp>
      <p:pic>
        <p:nvPicPr>
          <p:cNvPr id="15" name="Image 2" descr="arrow-right">    </p:cNvPr>
          <p:cNvPicPr>
            <a:picLocks noChangeAspect="1"/>
          </p:cNvPicPr>
          <p:nvPr/>
        </p:nvPicPr>
        <p:blipFill>
          <a:blip r:embed="rId3"/>
          <a:srcRect l="0" r="0" t="0" b="0"/>
          <a:stretch/>
        </p:blipFill>
        <p:spPr>
          <a:xfrm>
            <a:off x="8699500" y="2806700"/>
            <a:ext cx="355600" cy="254000"/>
          </a:xfrm>
          <a:prstGeom prst="rect">
            <a:avLst/>
          </a:prstGeom>
        </p:spPr>
      </p:pic>
      <p:sp>
        <p:nvSpPr>
          <p:cNvPr id="16" name="Shape 11"/>
          <p:cNvSpPr/>
          <p:nvPr/>
        </p:nvSpPr>
        <p:spPr>
          <a:xfrm>
            <a:off x="9159875" y="2164716"/>
            <a:ext cx="2216150" cy="1537970"/>
          </a:xfrm>
          <a:prstGeom prst="roundRect">
            <a:avLst>
              <a:gd name="adj" fmla="val 6400"/>
            </a:avLst>
          </a:prstGeom>
          <a:solidFill>
            <a:srgbClr val="FFFDF8"/>
          </a:solidFill>
          <a:ln w="6350">
            <a:solidFill>
              <a:srgbClr val="DDD6C8"/>
            </a:solidFill>
            <a:prstDash val="solid"/>
          </a:ln>
        </p:spPr>
      </p:sp>
      <p:sp>
        <p:nvSpPr>
          <p:cNvPr id="17" name="Text 12"/>
          <p:cNvSpPr/>
          <p:nvPr/>
        </p:nvSpPr>
        <p:spPr>
          <a:xfrm>
            <a:off x="9364980" y="2369820"/>
            <a:ext cx="186011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4 · Share</a:t>
            </a:r>
            <a:endParaRPr lang="en-US" sz="2000" dirty="0"/>
          </a:p>
        </p:txBody>
      </p:sp>
      <p:sp>
        <p:nvSpPr>
          <p:cNvPr id="18" name="Text 13"/>
          <p:cNvSpPr/>
          <p:nvPr/>
        </p:nvSpPr>
        <p:spPr>
          <a:xfrm>
            <a:off x="9364980" y="2750820"/>
            <a:ext cx="1860118"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Browse and filter, then export to PDF or Markdown.</a:t>
            </a:r>
            <a:endParaRPr lang="en-US" sz="1400" dirty="0"/>
          </a:p>
        </p:txBody>
      </p:sp>
      <p:sp>
        <p:nvSpPr>
          <p:cNvPr id="19" name="Text 14"/>
          <p:cNvSpPr/>
          <p:nvPr/>
        </p:nvSpPr>
        <p:spPr>
          <a:xfrm>
            <a:off x="812800" y="4084320"/>
            <a:ext cx="10566400" cy="619760"/>
          </a:xfrm>
          <a:prstGeom prst="roundRect">
            <a:avLst>
              <a:gd name="adj" fmla="val 16393"/>
            </a:avLst>
          </a:prstGeom>
          <a:solidFill>
            <a:srgbClr val="176B66"/>
          </a:solidFill>
          <a:ln/>
        </p:spPr>
        <p:txBody>
          <a:bodyPr wrap="square" lIns="224242" tIns="148042" rIns="0" bIns="122642" rtlCol="0" anchor="t">
            <a:normAutofit/>
          </a:bodyPr>
          <a:lstStyle/>
          <a:p>
            <a:pPr algn="l" indent="0" marL="0">
              <a:lnSpc>
                <a:spcPts val="2080"/>
              </a:lnSpc>
              <a:buNone/>
            </a:pPr>
            <a:r>
              <a:rPr lang="en-US" sz="1600" dirty="0">
                <a:solidFill>
                  <a:srgbClr val="F6F3EC"/>
                </a:solidFill>
                <a:latin typeface="IBM Plex Sans" pitchFamily="34" charset="0"/>
                <a:ea typeface="IBM Plex Sans" pitchFamily="34" charset="-122"/>
                <a:cs typeface="IBM Plex Sans" pitchFamily="34" charset="-120"/>
              </a:rPr>
              <a:t>Nothing is saved until the architect confirms the review.</a:t>
            </a:r>
            <a:endParaRPr lang="en-US" sz="1600" dirty="0"/>
          </a:p>
        </p:txBody>
      </p:sp>
      <p:sp>
        <p:nvSpPr>
          <p:cNvPr id="20" name="Text 15"/>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21" name="Text 16"/>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6B66"/>
                </a:solidFill>
                <a:latin typeface="IBM Plex Sans" pitchFamily="34" charset="0"/>
                <a:ea typeface="IBM Plex Sans" pitchFamily="34" charset="-122"/>
                <a:cs typeface="IBM Plex Sans" pitchFamily="34" charset="-120"/>
              </a:rPr>
              <a:t>THE DECISION RECORD</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43E"/>
                </a:solidFill>
                <a:latin typeface="EB Garamond" pitchFamily="18" charset="0"/>
                <a:ea typeface="EB Garamond" pitchFamily="18" charset="-122"/>
                <a:cs typeface="EB Garamond" pitchFamily="18" charset="-120"/>
              </a:rPr>
              <a:t>Nine fields, two of them TOGAF</a:t>
            </a:r>
            <a:endParaRPr lang="en-US" sz="3600" dirty="0"/>
          </a:p>
        </p:txBody>
      </p:sp>
      <p:sp>
        <p:nvSpPr>
          <p:cNvPr id="4" name="Shape 2"/>
          <p:cNvSpPr/>
          <p:nvPr/>
        </p:nvSpPr>
        <p:spPr>
          <a:xfrm>
            <a:off x="815975" y="2040257"/>
            <a:ext cx="3383677" cy="2691130"/>
          </a:xfrm>
          <a:prstGeom prst="roundRect">
            <a:avLst>
              <a:gd name="adj" fmla="val 3657"/>
            </a:avLst>
          </a:prstGeom>
          <a:solidFill>
            <a:srgbClr val="FFFDF8"/>
          </a:solidFill>
          <a:ln w="6350">
            <a:solidFill>
              <a:srgbClr val="DDD6C8"/>
            </a:solidFill>
            <a:prstDash val="solid"/>
          </a:ln>
        </p:spPr>
      </p:sp>
      <p:sp>
        <p:nvSpPr>
          <p:cNvPr id="5" name="Text 3"/>
          <p:cNvSpPr/>
          <p:nvPr/>
        </p:nvSpPr>
        <p:spPr>
          <a:xfrm>
            <a:off x="1071880" y="2296161"/>
            <a:ext cx="295802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Drafted by the AI</a:t>
            </a:r>
            <a:endParaRPr lang="en-US" sz="1800" dirty="0"/>
          </a:p>
        </p:txBody>
      </p:sp>
      <p:sp>
        <p:nvSpPr>
          <p:cNvPr id="6" name="Text 4"/>
          <p:cNvSpPr/>
          <p:nvPr/>
        </p:nvSpPr>
        <p:spPr>
          <a:xfrm>
            <a:off x="1143000" y="2646682"/>
            <a:ext cx="2879283" cy="1854200"/>
          </a:xfrm>
          <a:prstGeom prst="rect">
            <a:avLst/>
          </a:prstGeom>
          <a:noFill/>
          <a:ln/>
        </p:spPr>
        <p:txBody>
          <a:bodyPr wrap="square" lIns="0" tIns="0" rIns="0" bIns="0" rtlCol="0" anchor="t">
            <a:normAutofit/>
          </a:bodyPr>
          <a:lstStyle/>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Title</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Decision</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Context</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Options considered</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Rationale</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Consequences and risks</a:t>
            </a:r>
            <a:endParaRPr lang="en-US" sz="1500" dirty="0"/>
          </a:p>
        </p:txBody>
      </p:sp>
      <p:sp>
        <p:nvSpPr>
          <p:cNvPr id="7" name="Shape 5"/>
          <p:cNvSpPr/>
          <p:nvPr/>
        </p:nvSpPr>
        <p:spPr>
          <a:xfrm>
            <a:off x="4406027" y="2037082"/>
            <a:ext cx="3379946" cy="2697480"/>
          </a:xfrm>
          <a:prstGeom prst="roundRect">
            <a:avLst>
              <a:gd name="adj" fmla="val 3766"/>
            </a:avLst>
          </a:prstGeom>
          <a:solidFill>
            <a:srgbClr val="10243E"/>
          </a:solidFill>
          <a:ln/>
        </p:spPr>
      </p:sp>
      <p:sp>
        <p:nvSpPr>
          <p:cNvPr id="8" name="Text 6"/>
          <p:cNvSpPr/>
          <p:nvPr/>
        </p:nvSpPr>
        <p:spPr>
          <a:xfrm>
            <a:off x="4660027" y="2291082"/>
            <a:ext cx="295810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3A02B"/>
                </a:solidFill>
                <a:latin typeface="IBM Plex Sans" pitchFamily="34" charset="0"/>
                <a:ea typeface="IBM Plex Sans" pitchFamily="34" charset="-122"/>
                <a:cs typeface="IBM Plex Sans" pitchFamily="34" charset="-120"/>
              </a:rPr>
              <a:t>TOGAF layer</a:t>
            </a:r>
            <a:endParaRPr lang="en-US" sz="1800" dirty="0"/>
          </a:p>
        </p:txBody>
      </p:sp>
      <p:sp>
        <p:nvSpPr>
          <p:cNvPr id="9" name="Text 7"/>
          <p:cNvSpPr/>
          <p:nvPr/>
        </p:nvSpPr>
        <p:spPr>
          <a:xfrm>
            <a:off x="4660027" y="2641600"/>
            <a:ext cx="295810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D3E0"/>
                </a:solidFill>
                <a:latin typeface="IBM Plex Sans" pitchFamily="34" charset="0"/>
                <a:ea typeface="IBM Plex Sans" pitchFamily="34" charset="-122"/>
                <a:cs typeface="IBM Plex Sans" pitchFamily="34" charset="-120"/>
              </a:rPr>
              <a:t>AI suggests, architect confirms</a:t>
            </a:r>
            <a:endParaRPr lang="en-US" sz="1300" dirty="0"/>
          </a:p>
        </p:txBody>
      </p:sp>
      <p:sp>
        <p:nvSpPr>
          <p:cNvPr id="10" name="Text 8"/>
          <p:cNvSpPr/>
          <p:nvPr/>
        </p:nvSpPr>
        <p:spPr>
          <a:xfrm>
            <a:off x="4731147" y="2948939"/>
            <a:ext cx="2879365" cy="1168400"/>
          </a:xfrm>
          <a:prstGeom prst="rect">
            <a:avLst/>
          </a:prstGeom>
          <a:noFill/>
          <a:ln/>
        </p:spPr>
        <p:txBody>
          <a:bodyPr wrap="square" lIns="0" tIns="0" rIns="0" bIns="0" rtlCol="0" anchor="t">
            <a:normAutofit/>
          </a:bodyPr>
          <a:lstStyle/>
          <a:p>
            <a:pPr algn="l" marL="182880" indent="-182880">
              <a:lnSpc>
                <a:spcPts val="2250"/>
              </a:lnSpc>
              <a:buSzPct val="100000"/>
              <a:buChar char="•"/>
            </a:pPr>
            <a:r>
              <a:rPr lang="en-US" sz="1500" dirty="0">
                <a:solidFill>
                  <a:srgbClr val="F6F3EC"/>
                </a:solidFill>
                <a:latin typeface="IBM Plex Sans" pitchFamily="34" charset="0"/>
                <a:ea typeface="IBM Plex Sans" pitchFamily="34" charset="-122"/>
                <a:cs typeface="IBM Plex Sans" pitchFamily="34" charset="-120"/>
              </a:rPr>
              <a:t>ADM phase, one of 10</a:t>
            </a:r>
            <a:endParaRPr lang="en-US" sz="1500" dirty="0"/>
          </a:p>
          <a:p>
            <a:pPr algn="l" marL="182880" indent="-182880">
              <a:lnSpc>
                <a:spcPts val="2250"/>
              </a:lnSpc>
              <a:buSzPct val="100000"/>
              <a:buChar char="•"/>
            </a:pPr>
            <a:r>
              <a:rPr lang="en-US" sz="1500" dirty="0">
                <a:solidFill>
                  <a:srgbClr val="F6F3EC"/>
                </a:solidFill>
                <a:latin typeface="IBM Plex Sans" pitchFamily="34" charset="0"/>
                <a:ea typeface="IBM Plex Sans" pitchFamily="34" charset="-122"/>
                <a:cs typeface="IBM Plex Sans" pitchFamily="34" charset="-120"/>
              </a:rPr>
              <a:t>Architecture domain: Business, Data, Application or Technology</a:t>
            </a:r>
            <a:endParaRPr lang="en-US" sz="1500" dirty="0"/>
          </a:p>
        </p:txBody>
      </p:sp>
      <p:sp>
        <p:nvSpPr>
          <p:cNvPr id="11" name="Shape 9"/>
          <p:cNvSpPr/>
          <p:nvPr/>
        </p:nvSpPr>
        <p:spPr>
          <a:xfrm>
            <a:off x="7992349" y="2040257"/>
            <a:ext cx="3383677" cy="2691130"/>
          </a:xfrm>
          <a:prstGeom prst="roundRect">
            <a:avLst>
              <a:gd name="adj" fmla="val 3657"/>
            </a:avLst>
          </a:prstGeom>
          <a:solidFill>
            <a:srgbClr val="FFFDF8"/>
          </a:solidFill>
          <a:ln w="6350">
            <a:solidFill>
              <a:srgbClr val="DDD6C8"/>
            </a:solidFill>
            <a:prstDash val="solid"/>
          </a:ln>
        </p:spPr>
      </p:sp>
      <p:sp>
        <p:nvSpPr>
          <p:cNvPr id="12" name="Text 10"/>
          <p:cNvSpPr/>
          <p:nvPr/>
        </p:nvSpPr>
        <p:spPr>
          <a:xfrm>
            <a:off x="8248253" y="2296161"/>
            <a:ext cx="295802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Entered by the architect</a:t>
            </a:r>
            <a:endParaRPr lang="en-US" sz="1800" dirty="0"/>
          </a:p>
        </p:txBody>
      </p:sp>
      <p:sp>
        <p:nvSpPr>
          <p:cNvPr id="13" name="Text 11"/>
          <p:cNvSpPr/>
          <p:nvPr/>
        </p:nvSpPr>
        <p:spPr>
          <a:xfrm>
            <a:off x="8319373" y="2646682"/>
            <a:ext cx="2879283" cy="1244600"/>
          </a:xfrm>
          <a:prstGeom prst="rect">
            <a:avLst/>
          </a:prstGeom>
          <a:noFill/>
          <a:ln/>
        </p:spPr>
        <p:txBody>
          <a:bodyPr wrap="square" lIns="0" tIns="0" rIns="0" bIns="0" rtlCol="0" anchor="t">
            <a:normAutofit/>
          </a:bodyPr>
          <a:lstStyle/>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Owner</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Status: Proposed, Accepted, Rejected or Superseded</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Date</a:t>
            </a:r>
            <a:endParaRPr lang="en-US" sz="1500" dirty="0"/>
          </a:p>
        </p:txBody>
      </p:sp>
      <p:sp>
        <p:nvSpPr>
          <p:cNvPr id="14" name="Text 12"/>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15" name="Text 13"/>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6B66"/>
                </a:solidFill>
                <a:latin typeface="IBM Plex Sans" pitchFamily="34" charset="0"/>
                <a:ea typeface="IBM Plex Sans" pitchFamily="34" charset="-122"/>
                <a:cs typeface="IBM Plex Sans" pitchFamily="34" charset="-120"/>
              </a:rPr>
              <a:t>KEY FEATURES OF V1.0</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43E"/>
                </a:solidFill>
                <a:latin typeface="EB Garamond" pitchFamily="18" charset="0"/>
                <a:ea typeface="EB Garamond" pitchFamily="18" charset="-122"/>
                <a:cs typeface="EB Garamond" pitchFamily="18" charset="-120"/>
              </a:rPr>
              <a:t>One workflow, done well</a:t>
            </a:r>
            <a:endParaRPr lang="en-US" sz="3600" dirty="0"/>
          </a:p>
        </p:txBody>
      </p:sp>
      <p:sp>
        <p:nvSpPr>
          <p:cNvPr id="4" name="Shape 2"/>
          <p:cNvSpPr/>
          <p:nvPr/>
        </p:nvSpPr>
        <p:spPr>
          <a:xfrm>
            <a:off x="815975" y="2040257"/>
            <a:ext cx="3380264" cy="1507490"/>
          </a:xfrm>
          <a:prstGeom prst="roundRect">
            <a:avLst>
              <a:gd name="adj" fmla="val 6529"/>
            </a:avLst>
          </a:prstGeom>
          <a:solidFill>
            <a:srgbClr val="FFFDF8"/>
          </a:solidFill>
          <a:ln w="6350">
            <a:solidFill>
              <a:srgbClr val="DDD6C8"/>
            </a:solidFill>
            <a:prstDash val="solid"/>
          </a:ln>
        </p:spPr>
      </p:sp>
      <p:sp>
        <p:nvSpPr>
          <p:cNvPr id="5" name="Text 3"/>
          <p:cNvSpPr/>
          <p:nvPr/>
        </p:nvSpPr>
        <p:spPr>
          <a:xfrm>
            <a:off x="1021080" y="2245361"/>
            <a:ext cx="305915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AI-drafted record</a:t>
            </a:r>
            <a:endParaRPr lang="en-US" sz="1800" dirty="0"/>
          </a:p>
        </p:txBody>
      </p:sp>
      <p:sp>
        <p:nvSpPr>
          <p:cNvPr id="6" name="Text 4"/>
          <p:cNvSpPr/>
          <p:nvPr/>
        </p:nvSpPr>
        <p:spPr>
          <a:xfrm>
            <a:off x="1021080" y="2595882"/>
            <a:ext cx="30591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Pasted text becomes a nine-field draft. Target: under 30 seconds.</a:t>
            </a:r>
            <a:endParaRPr lang="en-US" sz="1400" dirty="0"/>
          </a:p>
        </p:txBody>
      </p:sp>
      <p:sp>
        <p:nvSpPr>
          <p:cNvPr id="7" name="Shape 5"/>
          <p:cNvSpPr/>
          <p:nvPr/>
        </p:nvSpPr>
        <p:spPr>
          <a:xfrm>
            <a:off x="4405789" y="2040257"/>
            <a:ext cx="3380343" cy="1507490"/>
          </a:xfrm>
          <a:prstGeom prst="roundRect">
            <a:avLst>
              <a:gd name="adj" fmla="val 6529"/>
            </a:avLst>
          </a:prstGeom>
          <a:solidFill>
            <a:srgbClr val="FFFDF8"/>
          </a:solidFill>
          <a:ln w="6350">
            <a:solidFill>
              <a:srgbClr val="DDD6C8"/>
            </a:solidFill>
            <a:prstDash val="solid"/>
          </a:ln>
        </p:spPr>
      </p:sp>
      <p:sp>
        <p:nvSpPr>
          <p:cNvPr id="8" name="Text 6"/>
          <p:cNvSpPr/>
          <p:nvPr/>
        </p:nvSpPr>
        <p:spPr>
          <a:xfrm>
            <a:off x="4610894" y="2245361"/>
            <a:ext cx="30592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TOGAF tagging</a:t>
            </a:r>
            <a:endParaRPr lang="en-US" sz="1800" dirty="0"/>
          </a:p>
        </p:txBody>
      </p:sp>
      <p:sp>
        <p:nvSpPr>
          <p:cNvPr id="9" name="Text 7"/>
          <p:cNvSpPr/>
          <p:nvPr/>
        </p:nvSpPr>
        <p:spPr>
          <a:xfrm>
            <a:off x="4610894" y="2595882"/>
            <a:ext cx="305923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Suggests one of 10 ADM phases and one of 4 domains, with a one-line reason.</a:t>
            </a:r>
            <a:endParaRPr lang="en-US" sz="1400" dirty="0"/>
          </a:p>
        </p:txBody>
      </p:sp>
      <p:sp>
        <p:nvSpPr>
          <p:cNvPr id="10" name="Shape 8"/>
          <p:cNvSpPr/>
          <p:nvPr/>
        </p:nvSpPr>
        <p:spPr>
          <a:xfrm>
            <a:off x="7995682" y="2040257"/>
            <a:ext cx="3380343" cy="1507490"/>
          </a:xfrm>
          <a:prstGeom prst="roundRect">
            <a:avLst>
              <a:gd name="adj" fmla="val 6529"/>
            </a:avLst>
          </a:prstGeom>
          <a:solidFill>
            <a:srgbClr val="FFFDF8"/>
          </a:solidFill>
          <a:ln w="6350">
            <a:solidFill>
              <a:srgbClr val="DDD6C8"/>
            </a:solidFill>
            <a:prstDash val="solid"/>
          </a:ln>
        </p:spPr>
      </p:sp>
      <p:sp>
        <p:nvSpPr>
          <p:cNvPr id="11" name="Text 9"/>
          <p:cNvSpPr/>
          <p:nvPr/>
        </p:nvSpPr>
        <p:spPr>
          <a:xfrm>
            <a:off x="8200787" y="2245361"/>
            <a:ext cx="30592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Human review</a:t>
            </a:r>
            <a:endParaRPr lang="en-US" sz="1800" dirty="0"/>
          </a:p>
        </p:txBody>
      </p:sp>
      <p:sp>
        <p:nvSpPr>
          <p:cNvPr id="12" name="Text 10"/>
          <p:cNvSpPr/>
          <p:nvPr/>
        </p:nvSpPr>
        <p:spPr>
          <a:xfrm>
            <a:off x="8200787" y="2595882"/>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Every field is editable. Saving needs the architect’s confirmation.</a:t>
            </a:r>
            <a:endParaRPr lang="en-US" sz="1400" dirty="0"/>
          </a:p>
        </p:txBody>
      </p:sp>
      <p:sp>
        <p:nvSpPr>
          <p:cNvPr id="13" name="Shape 11"/>
          <p:cNvSpPr/>
          <p:nvPr/>
        </p:nvSpPr>
        <p:spPr>
          <a:xfrm>
            <a:off x="815975" y="3757296"/>
            <a:ext cx="3380264" cy="1258570"/>
          </a:xfrm>
          <a:prstGeom prst="roundRect">
            <a:avLst>
              <a:gd name="adj" fmla="val 7820"/>
            </a:avLst>
          </a:prstGeom>
          <a:solidFill>
            <a:srgbClr val="FFFDF8"/>
          </a:solidFill>
          <a:ln w="6350">
            <a:solidFill>
              <a:srgbClr val="DDD6C8"/>
            </a:solidFill>
            <a:prstDash val="solid"/>
          </a:ln>
        </p:spPr>
      </p:sp>
      <p:sp>
        <p:nvSpPr>
          <p:cNvPr id="14" name="Text 12"/>
          <p:cNvSpPr/>
          <p:nvPr/>
        </p:nvSpPr>
        <p:spPr>
          <a:xfrm>
            <a:off x="1021080" y="3962400"/>
            <a:ext cx="3059155"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Browse and filter</a:t>
            </a:r>
            <a:endParaRPr lang="en-US" sz="1800" dirty="0"/>
          </a:p>
        </p:txBody>
      </p:sp>
      <p:sp>
        <p:nvSpPr>
          <p:cNvPr id="15" name="Text 13"/>
          <p:cNvSpPr/>
          <p:nvPr/>
        </p:nvSpPr>
        <p:spPr>
          <a:xfrm>
            <a:off x="1021080" y="4312921"/>
            <a:ext cx="30591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List, open, edit and delete records. Filter by ADM phase and domain.</a:t>
            </a:r>
            <a:endParaRPr lang="en-US" sz="1400" dirty="0"/>
          </a:p>
        </p:txBody>
      </p:sp>
      <p:sp>
        <p:nvSpPr>
          <p:cNvPr id="16" name="Shape 14"/>
          <p:cNvSpPr/>
          <p:nvPr/>
        </p:nvSpPr>
        <p:spPr>
          <a:xfrm>
            <a:off x="4405789" y="3757296"/>
            <a:ext cx="3380343" cy="1258570"/>
          </a:xfrm>
          <a:prstGeom prst="roundRect">
            <a:avLst>
              <a:gd name="adj" fmla="val 7820"/>
            </a:avLst>
          </a:prstGeom>
          <a:solidFill>
            <a:srgbClr val="FFFDF8"/>
          </a:solidFill>
          <a:ln w="6350">
            <a:solidFill>
              <a:srgbClr val="DDD6C8"/>
            </a:solidFill>
            <a:prstDash val="solid"/>
          </a:ln>
        </p:spPr>
      </p:sp>
      <p:sp>
        <p:nvSpPr>
          <p:cNvPr id="17" name="Text 15"/>
          <p:cNvSpPr/>
          <p:nvPr/>
        </p:nvSpPr>
        <p:spPr>
          <a:xfrm>
            <a:off x="4610894" y="3962400"/>
            <a:ext cx="30592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Export</a:t>
            </a:r>
            <a:endParaRPr lang="en-US" sz="1800" dirty="0"/>
          </a:p>
        </p:txBody>
      </p:sp>
      <p:sp>
        <p:nvSpPr>
          <p:cNvPr id="18" name="Text 16"/>
          <p:cNvSpPr/>
          <p:nvPr/>
        </p:nvSpPr>
        <p:spPr>
          <a:xfrm>
            <a:off x="4610894" y="4312921"/>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A print-ready page to save as PDF, plus a Markdown download.</a:t>
            </a:r>
            <a:endParaRPr lang="en-US" sz="1400" dirty="0"/>
          </a:p>
        </p:txBody>
      </p:sp>
      <p:sp>
        <p:nvSpPr>
          <p:cNvPr id="19" name="Shape 17"/>
          <p:cNvSpPr/>
          <p:nvPr/>
        </p:nvSpPr>
        <p:spPr>
          <a:xfrm>
            <a:off x="7995682" y="3757296"/>
            <a:ext cx="3380343" cy="1258570"/>
          </a:xfrm>
          <a:prstGeom prst="roundRect">
            <a:avLst>
              <a:gd name="adj" fmla="val 7820"/>
            </a:avLst>
          </a:prstGeom>
          <a:solidFill>
            <a:srgbClr val="FFFDF8"/>
          </a:solidFill>
          <a:ln w="6350">
            <a:solidFill>
              <a:srgbClr val="DDD6C8"/>
            </a:solidFill>
            <a:prstDash val="solid"/>
          </a:ln>
        </p:spPr>
      </p:sp>
      <p:sp>
        <p:nvSpPr>
          <p:cNvPr id="20" name="Text 18"/>
          <p:cNvSpPr/>
          <p:nvPr/>
        </p:nvSpPr>
        <p:spPr>
          <a:xfrm>
            <a:off x="8200787" y="3962400"/>
            <a:ext cx="305923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0243E"/>
                </a:solidFill>
                <a:latin typeface="IBM Plex Sans" pitchFamily="34" charset="0"/>
                <a:ea typeface="IBM Plex Sans" pitchFamily="34" charset="-122"/>
                <a:cs typeface="IBM Plex Sans" pitchFamily="34" charset="-120"/>
              </a:rPr>
              <a:t>Guardrails</a:t>
            </a:r>
            <a:endParaRPr lang="en-US" sz="1800" dirty="0"/>
          </a:p>
        </p:txBody>
      </p:sp>
      <p:sp>
        <p:nvSpPr>
          <p:cNvPr id="21" name="Text 19"/>
          <p:cNvSpPr/>
          <p:nvPr/>
        </p:nvSpPr>
        <p:spPr>
          <a:xfrm>
            <a:off x="8200787" y="4312921"/>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Input cap, per-visitor rate limit and a daily AI limit protect the free quota.</a:t>
            </a:r>
            <a:endParaRPr lang="en-US" sz="1400" dirty="0"/>
          </a:p>
        </p:txBody>
      </p:sp>
      <p:sp>
        <p:nvSpPr>
          <p:cNvPr id="22" name="Text 20"/>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23" name="Text 21"/>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6B66"/>
                </a:solidFill>
                <a:latin typeface="IBM Plex Sans" pitchFamily="34" charset="0"/>
                <a:ea typeface="IBM Plex Sans" pitchFamily="34" charset="-122"/>
                <a:cs typeface="IBM Plex Sans" pitchFamily="34" charset="-120"/>
              </a:rPr>
              <a:t>WHY IT IS GOVERNANCE-GRADE</a:t>
            </a:r>
            <a:endParaRPr lang="en-US" sz="1200" dirty="0"/>
          </a:p>
        </p:txBody>
      </p:sp>
      <p:sp>
        <p:nvSpPr>
          <p:cNvPr id="3" name="Text 1"/>
          <p:cNvSpPr/>
          <p:nvPr>
            <p:ph type="title"/>
          </p:nvPr>
        </p:nvSpPr>
        <p:spPr>
          <a:xfrm>
            <a:off x="812800" y="12801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43E"/>
                </a:solidFill>
                <a:latin typeface="EB Garamond" pitchFamily="18" charset="0"/>
                <a:ea typeface="EB Garamond" pitchFamily="18" charset="-122"/>
                <a:cs typeface="EB Garamond" pitchFamily="18" charset="-120"/>
              </a:rPr>
              <a:t>The AI proposes. The architect decides.</a:t>
            </a:r>
            <a:endParaRPr lang="en-US" sz="3600" dirty="0"/>
          </a:p>
        </p:txBody>
      </p:sp>
      <p:sp>
        <p:nvSpPr>
          <p:cNvPr id="4" name="Shape 2"/>
          <p:cNvSpPr/>
          <p:nvPr/>
        </p:nvSpPr>
        <p:spPr>
          <a:xfrm>
            <a:off x="815975" y="2040257"/>
            <a:ext cx="3380264" cy="1913890"/>
          </a:xfrm>
          <a:prstGeom prst="roundRect">
            <a:avLst>
              <a:gd name="adj" fmla="val 5143"/>
            </a:avLst>
          </a:prstGeom>
          <a:solidFill>
            <a:srgbClr val="FFFDF8"/>
          </a:solidFill>
          <a:ln w="6350">
            <a:solidFill>
              <a:srgbClr val="DDD6C8"/>
            </a:solidFill>
            <a:prstDash val="solid"/>
          </a:ln>
        </p:spPr>
      </p:sp>
      <p:sp>
        <p:nvSpPr>
          <p:cNvPr id="5" name="Text 3"/>
          <p:cNvSpPr/>
          <p:nvPr/>
        </p:nvSpPr>
        <p:spPr>
          <a:xfrm>
            <a:off x="1071880" y="2296161"/>
            <a:ext cx="2954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The AI drafts</a:t>
            </a:r>
            <a:endParaRPr lang="en-US" sz="2000" dirty="0"/>
          </a:p>
        </p:txBody>
      </p:sp>
      <p:sp>
        <p:nvSpPr>
          <p:cNvPr id="6" name="Text 4"/>
          <p:cNvSpPr/>
          <p:nvPr/>
        </p:nvSpPr>
        <p:spPr>
          <a:xfrm>
            <a:off x="1071880" y="2702561"/>
            <a:ext cx="2954507"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Uses only what the discussion says. Gaps read “Not stated in the discussion” instead of invented facts.</a:t>
            </a:r>
            <a:endParaRPr lang="en-US" sz="1400" dirty="0"/>
          </a:p>
        </p:txBody>
      </p:sp>
      <p:sp>
        <p:nvSpPr>
          <p:cNvPr id="7" name="Shape 5"/>
          <p:cNvSpPr/>
          <p:nvPr/>
        </p:nvSpPr>
        <p:spPr>
          <a:xfrm>
            <a:off x="4405789" y="2040257"/>
            <a:ext cx="3380343" cy="1913890"/>
          </a:xfrm>
          <a:prstGeom prst="roundRect">
            <a:avLst>
              <a:gd name="adj" fmla="val 5143"/>
            </a:avLst>
          </a:prstGeom>
          <a:solidFill>
            <a:srgbClr val="FFFDF8"/>
          </a:solidFill>
          <a:ln w="6350">
            <a:solidFill>
              <a:srgbClr val="DDD6C8"/>
            </a:solidFill>
            <a:prstDash val="solid"/>
          </a:ln>
        </p:spPr>
      </p:sp>
      <p:sp>
        <p:nvSpPr>
          <p:cNvPr id="8" name="Text 6"/>
          <p:cNvSpPr/>
          <p:nvPr/>
        </p:nvSpPr>
        <p:spPr>
          <a:xfrm>
            <a:off x="4661694" y="229616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The architect decides</a:t>
            </a:r>
            <a:endParaRPr lang="en-US" sz="2000" dirty="0"/>
          </a:p>
        </p:txBody>
      </p:sp>
      <p:sp>
        <p:nvSpPr>
          <p:cNvPr id="9" name="Text 7"/>
          <p:cNvSpPr/>
          <p:nvPr/>
        </p:nvSpPr>
        <p:spPr>
          <a:xfrm>
            <a:off x="4661694" y="2702561"/>
            <a:ext cx="2954589"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Edits every field, confirms the phase and domain, and sets owner, status and date. The AI never does.</a:t>
            </a:r>
            <a:endParaRPr lang="en-US" sz="1400" dirty="0"/>
          </a:p>
        </p:txBody>
      </p:sp>
      <p:sp>
        <p:nvSpPr>
          <p:cNvPr id="10" name="Shape 8"/>
          <p:cNvSpPr/>
          <p:nvPr/>
        </p:nvSpPr>
        <p:spPr>
          <a:xfrm>
            <a:off x="7995682" y="2040257"/>
            <a:ext cx="3380343" cy="1913890"/>
          </a:xfrm>
          <a:prstGeom prst="roundRect">
            <a:avLst>
              <a:gd name="adj" fmla="val 5143"/>
            </a:avLst>
          </a:prstGeom>
          <a:solidFill>
            <a:srgbClr val="FFFDF8"/>
          </a:solidFill>
          <a:ln w="6350">
            <a:solidFill>
              <a:srgbClr val="DDD6C8"/>
            </a:solidFill>
            <a:prstDash val="solid"/>
          </a:ln>
        </p:spPr>
      </p:sp>
      <p:sp>
        <p:nvSpPr>
          <p:cNvPr id="11" name="Text 9"/>
          <p:cNvSpPr/>
          <p:nvPr/>
        </p:nvSpPr>
        <p:spPr>
          <a:xfrm>
            <a:off x="8251587" y="2296161"/>
            <a:ext cx="295458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The record stands up</a:t>
            </a:r>
            <a:endParaRPr lang="en-US" sz="2000" dirty="0"/>
          </a:p>
        </p:txBody>
      </p:sp>
      <p:sp>
        <p:nvSpPr>
          <p:cNvPr id="12" name="Text 10"/>
          <p:cNvSpPr/>
          <p:nvPr/>
        </p:nvSpPr>
        <p:spPr>
          <a:xfrm>
            <a:off x="8251587" y="2702561"/>
            <a:ext cx="2954589" cy="10210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Nothing saves without a review confirmation. Phase and domain show on the list, the page and every export.</a:t>
            </a:r>
            <a:endParaRPr lang="en-US" sz="1400" dirty="0"/>
          </a:p>
        </p:txBody>
      </p:sp>
      <p:sp>
        <p:nvSpPr>
          <p:cNvPr id="13" name="Text 11"/>
          <p:cNvSpPr/>
          <p:nvPr/>
        </p:nvSpPr>
        <p:spPr>
          <a:xfrm>
            <a:off x="812800" y="4287521"/>
            <a:ext cx="147748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0243E"/>
                </a:solidFill>
                <a:latin typeface="IBM Plex Sans" pitchFamily="34" charset="0"/>
                <a:ea typeface="IBM Plex Sans" pitchFamily="34" charset="-122"/>
                <a:cs typeface="IBM Plex Sans" pitchFamily="34" charset="-120"/>
              </a:rPr>
              <a:t>10 ADM phases ·</a:t>
            </a:r>
            <a:endParaRPr lang="en-US" sz="1400" dirty="0"/>
          </a:p>
        </p:txBody>
      </p:sp>
      <p:sp>
        <p:nvSpPr>
          <p:cNvPr id="14" name="Text 12"/>
          <p:cNvSpPr/>
          <p:nvPr/>
        </p:nvSpPr>
        <p:spPr>
          <a:xfrm>
            <a:off x="2290286" y="4211321"/>
            <a:ext cx="1087199" cy="401320"/>
          </a:xfrm>
          <a:prstGeom prst="roundRect">
            <a:avLst>
              <a:gd name="adj" fmla="val 50000"/>
            </a:avLst>
          </a:prstGeom>
          <a:solidFill>
            <a:srgbClr val="176B66"/>
          </a:solidFill>
          <a:ln/>
        </p:spPr>
        <p:txBody>
          <a:bodyPr wrap="none" lIns="0" tIns="0" rIns="0" bIns="0" rtlCol="0" anchor="ctr">
            <a:normAutofit/>
          </a:bodyPr>
          <a:lstStyle/>
          <a:p>
            <a:pPr algn="ctr"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Business</a:t>
            </a:r>
            <a:endParaRPr lang="en-US" sz="1400" dirty="0"/>
          </a:p>
        </p:txBody>
      </p:sp>
      <p:sp>
        <p:nvSpPr>
          <p:cNvPr id="15" name="Text 13"/>
          <p:cNvSpPr/>
          <p:nvPr/>
        </p:nvSpPr>
        <p:spPr>
          <a:xfrm>
            <a:off x="3479086" y="4211321"/>
            <a:ext cx="736600" cy="401320"/>
          </a:xfrm>
          <a:prstGeom prst="roundRect">
            <a:avLst>
              <a:gd name="adj" fmla="val 50000"/>
            </a:avLst>
          </a:prstGeom>
          <a:solidFill>
            <a:srgbClr val="176B66"/>
          </a:solidFill>
          <a:ln/>
        </p:spPr>
        <p:txBody>
          <a:bodyPr wrap="none" lIns="0" tIns="0" rIns="0" bIns="0" rtlCol="0" anchor="ctr">
            <a:normAutofit/>
          </a:bodyPr>
          <a:lstStyle/>
          <a:p>
            <a:pPr algn="ctr"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Data</a:t>
            </a:r>
            <a:endParaRPr lang="en-US" sz="1400" dirty="0"/>
          </a:p>
        </p:txBody>
      </p:sp>
      <p:sp>
        <p:nvSpPr>
          <p:cNvPr id="16" name="Text 14"/>
          <p:cNvSpPr/>
          <p:nvPr/>
        </p:nvSpPr>
        <p:spPr>
          <a:xfrm>
            <a:off x="4317286" y="4211321"/>
            <a:ext cx="1284049" cy="401320"/>
          </a:xfrm>
          <a:prstGeom prst="roundRect">
            <a:avLst>
              <a:gd name="adj" fmla="val 50000"/>
            </a:avLst>
          </a:prstGeom>
          <a:solidFill>
            <a:srgbClr val="176B66"/>
          </a:solidFill>
          <a:ln/>
        </p:spPr>
        <p:txBody>
          <a:bodyPr wrap="none" lIns="0" tIns="0" rIns="0" bIns="0" rtlCol="0" anchor="ctr">
            <a:normAutofit/>
          </a:bodyPr>
          <a:lstStyle/>
          <a:p>
            <a:pPr algn="ctr"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Application</a:t>
            </a:r>
            <a:endParaRPr lang="en-US" sz="1400" dirty="0"/>
          </a:p>
        </p:txBody>
      </p:sp>
      <p:sp>
        <p:nvSpPr>
          <p:cNvPr id="17" name="Text 15"/>
          <p:cNvSpPr/>
          <p:nvPr/>
        </p:nvSpPr>
        <p:spPr>
          <a:xfrm>
            <a:off x="5702935" y="4211321"/>
            <a:ext cx="1280557" cy="401320"/>
          </a:xfrm>
          <a:prstGeom prst="roundRect">
            <a:avLst>
              <a:gd name="adj" fmla="val 50000"/>
            </a:avLst>
          </a:prstGeom>
          <a:solidFill>
            <a:srgbClr val="176B66"/>
          </a:solidFill>
          <a:ln/>
        </p:spPr>
        <p:txBody>
          <a:bodyPr wrap="none" lIns="0" tIns="0" rIns="0" bIns="0" rtlCol="0" anchor="ctr">
            <a:normAutofit/>
          </a:bodyPr>
          <a:lstStyle/>
          <a:p>
            <a:pPr algn="ctr" indent="0" marL="0">
              <a:lnSpc>
                <a:spcPts val="1960"/>
              </a:lnSpc>
              <a:buNone/>
            </a:pPr>
            <a:r>
              <a:rPr lang="en-US" sz="1400" dirty="0">
                <a:solidFill>
                  <a:srgbClr val="F6F3EC"/>
                </a:solidFill>
                <a:latin typeface="IBM Plex Sans" pitchFamily="34" charset="0"/>
                <a:ea typeface="IBM Plex Sans" pitchFamily="34" charset="-122"/>
                <a:cs typeface="IBM Plex Sans" pitchFamily="34" charset="-120"/>
              </a:rPr>
              <a:t>Technology</a:t>
            </a:r>
            <a:endParaRPr lang="en-US" sz="1400" dirty="0"/>
          </a:p>
        </p:txBody>
      </p:sp>
      <p:sp>
        <p:nvSpPr>
          <p:cNvPr id="18" name="Text 16"/>
          <p:cNvSpPr/>
          <p:nvPr/>
        </p:nvSpPr>
        <p:spPr>
          <a:xfrm>
            <a:off x="812800" y="6238239"/>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19" name="Text 17"/>
          <p:cNvSpPr/>
          <p:nvPr/>
        </p:nvSpPr>
        <p:spPr>
          <a:xfrm>
            <a:off x="10058400" y="6238239"/>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82074"/>
          </a:xfrm>
          <a:prstGeom prst="rect">
            <a:avLst/>
          </a:prstGeom>
          <a:noFill/>
          <a:ln/>
        </p:spPr>
        <p:txBody>
          <a:bodyPr wrap="square" lIns="0" tIns="0" rIns="0" bIns="0" rtlCol="0" anchor="t">
            <a:normAutofit/>
          </a:bodyPr>
          <a:lstStyle/>
          <a:p>
            <a:pPr algn="l" indent="0" marL="0">
              <a:lnSpc>
                <a:spcPts val="1008"/>
              </a:lnSpc>
              <a:buNone/>
            </a:pPr>
            <a:r>
              <a:rPr lang="en-US" sz="720" b="1" spc="150" kern="0" dirty="0">
                <a:solidFill>
                  <a:srgbClr val="176B66"/>
                </a:solidFill>
                <a:latin typeface="IBM Plex Sans" pitchFamily="34" charset="0"/>
                <a:ea typeface="IBM Plex Sans" pitchFamily="34" charset="-122"/>
                <a:cs typeface="IBM Plex Sans" pitchFamily="34" charset="-120"/>
              </a:rPr>
              <a:t>TECHNICAL APPROACH</a:t>
            </a:r>
            <a:endParaRPr lang="en-US" sz="720" dirty="0"/>
          </a:p>
        </p:txBody>
      </p:sp>
      <p:sp>
        <p:nvSpPr>
          <p:cNvPr id="3" name="Text 1"/>
          <p:cNvSpPr/>
          <p:nvPr>
            <p:ph type="title"/>
          </p:nvPr>
        </p:nvSpPr>
        <p:spPr>
          <a:xfrm>
            <a:off x="812800" y="1123476"/>
            <a:ext cx="10883392" cy="159068"/>
          </a:xfrm>
          <a:prstGeom prst="rect">
            <a:avLst/>
          </a:prstGeom>
          <a:noFill/>
          <a:ln/>
        </p:spPr>
        <p:txBody>
          <a:bodyPr wrap="square" lIns="0" tIns="0" rIns="0" bIns="0" rtlCol="0" anchor="t">
            <a:normAutofit/>
          </a:bodyPr>
          <a:lstStyle/>
          <a:p>
            <a:pPr algn="l" indent="0" marL="0">
              <a:lnSpc>
                <a:spcPts val="2376"/>
              </a:lnSpc>
              <a:buNone/>
            </a:pPr>
            <a:r>
              <a:rPr lang="en-US" sz="2160" b="1" i="0" dirty="0">
                <a:solidFill>
                  <a:srgbClr val="10243E"/>
                </a:solidFill>
                <a:latin typeface="EB Garamond" pitchFamily="18" charset="0"/>
                <a:ea typeface="EB Garamond" pitchFamily="18" charset="-122"/>
                <a:cs typeface="EB Garamond" pitchFamily="18" charset="-120"/>
              </a:rPr>
              <a:t>One small app, built on skills already in hand</a:t>
            </a:r>
            <a:endParaRPr lang="en-US" sz="2160" dirty="0"/>
          </a:p>
        </p:txBody>
      </p:sp>
      <p:sp>
        <p:nvSpPr>
          <p:cNvPr id="4" name="Shape 2"/>
          <p:cNvSpPr/>
          <p:nvPr/>
        </p:nvSpPr>
        <p:spPr>
          <a:xfrm>
            <a:off x="815975" y="1514317"/>
            <a:ext cx="3143250" cy="852170"/>
          </a:xfrm>
          <a:prstGeom prst="roundRect">
            <a:avLst>
              <a:gd name="adj" fmla="val 11550"/>
            </a:avLst>
          </a:prstGeom>
          <a:solidFill>
            <a:srgbClr val="FFFDF8"/>
          </a:solidFill>
          <a:ln w="6350">
            <a:solidFill>
              <a:srgbClr val="DDD6C8"/>
            </a:solidFill>
            <a:prstDash val="solid"/>
          </a:ln>
        </p:spPr>
      </p:sp>
      <p:sp>
        <p:nvSpPr>
          <p:cNvPr id="5" name="Text 3"/>
          <p:cNvSpPr/>
          <p:nvPr/>
        </p:nvSpPr>
        <p:spPr>
          <a:xfrm>
            <a:off x="1021080" y="1694021"/>
            <a:ext cx="28150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43E"/>
                </a:solidFill>
                <a:latin typeface="IBM Plex Sans" pitchFamily="34" charset="0"/>
                <a:ea typeface="IBM Plex Sans" pitchFamily="34" charset="-122"/>
                <a:cs typeface="IBM Plex Sans" pitchFamily="34" charset="-120"/>
              </a:rPr>
              <a:t>Browser</a:t>
            </a:r>
            <a:endParaRPr lang="en-US" sz="1500" dirty="0"/>
          </a:p>
        </p:txBody>
      </p:sp>
      <p:sp>
        <p:nvSpPr>
          <p:cNvPr id="6" name="Text 4"/>
          <p:cNvSpPr/>
          <p:nvPr/>
        </p:nvSpPr>
        <p:spPr>
          <a:xfrm>
            <a:off x="1021080" y="1973421"/>
            <a:ext cx="28150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HTML, CSS and a little plain JavaScript</a:t>
            </a:r>
            <a:endParaRPr lang="en-US" sz="1200" dirty="0"/>
          </a:p>
        </p:txBody>
      </p:sp>
      <p:pic>
        <p:nvPicPr>
          <p:cNvPr id="7" name="Image 0" descr="arrow-right">    </p:cNvPr>
          <p:cNvPicPr>
            <a:picLocks noChangeAspect="1"/>
          </p:cNvPicPr>
          <p:nvPr/>
        </p:nvPicPr>
        <p:blipFill>
          <a:blip r:embed="rId1"/>
          <a:srcRect l="0" r="0" t="0" b="0"/>
          <a:stretch/>
        </p:blipFill>
        <p:spPr>
          <a:xfrm>
            <a:off x="4064000" y="1813402"/>
            <a:ext cx="355600" cy="254000"/>
          </a:xfrm>
          <a:prstGeom prst="rect">
            <a:avLst/>
          </a:prstGeom>
        </p:spPr>
      </p:pic>
      <p:sp>
        <p:nvSpPr>
          <p:cNvPr id="8" name="Shape 5"/>
          <p:cNvSpPr/>
          <p:nvPr/>
        </p:nvSpPr>
        <p:spPr>
          <a:xfrm>
            <a:off x="4524375" y="1514317"/>
            <a:ext cx="3143250" cy="852170"/>
          </a:xfrm>
          <a:prstGeom prst="roundRect">
            <a:avLst>
              <a:gd name="adj" fmla="val 11550"/>
            </a:avLst>
          </a:prstGeom>
          <a:solidFill>
            <a:srgbClr val="FFFDF8"/>
          </a:solidFill>
          <a:ln w="6350">
            <a:solidFill>
              <a:srgbClr val="DDD6C8"/>
            </a:solidFill>
            <a:prstDash val="solid"/>
          </a:ln>
        </p:spPr>
      </p:sp>
      <p:sp>
        <p:nvSpPr>
          <p:cNvPr id="9" name="Text 6"/>
          <p:cNvSpPr/>
          <p:nvPr/>
        </p:nvSpPr>
        <p:spPr>
          <a:xfrm>
            <a:off x="4729480" y="1694021"/>
            <a:ext cx="28150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43E"/>
                </a:solidFill>
                <a:latin typeface="IBM Plex Sans" pitchFamily="34" charset="0"/>
                <a:ea typeface="IBM Plex Sans" pitchFamily="34" charset="-122"/>
                <a:cs typeface="IBM Plex Sans" pitchFamily="34" charset="-120"/>
              </a:rPr>
              <a:t>ASP.NET Core web app</a:t>
            </a:r>
            <a:endParaRPr lang="en-US" sz="1500" dirty="0"/>
          </a:p>
        </p:txBody>
      </p:sp>
      <p:sp>
        <p:nvSpPr>
          <p:cNvPr id="10" name="Text 7"/>
          <p:cNvSpPr/>
          <p:nvPr/>
        </p:nvSpPr>
        <p:spPr>
          <a:xfrm>
            <a:off x="4729480" y="1973421"/>
            <a:ext cx="28150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C#, Razor Pages, EF Core</a:t>
            </a:r>
            <a:endParaRPr lang="en-US" sz="1200" dirty="0"/>
          </a:p>
        </p:txBody>
      </p:sp>
      <p:pic>
        <p:nvPicPr>
          <p:cNvPr id="11" name="Image 1" descr="arrow-right">    </p:cNvPr>
          <p:cNvPicPr>
            <a:picLocks noChangeAspect="1"/>
          </p:cNvPicPr>
          <p:nvPr/>
        </p:nvPicPr>
        <p:blipFill>
          <a:blip r:embed="rId2"/>
          <a:srcRect l="0" r="0" t="0" b="0"/>
          <a:stretch/>
        </p:blipFill>
        <p:spPr>
          <a:xfrm>
            <a:off x="7772400" y="1813402"/>
            <a:ext cx="355600" cy="254000"/>
          </a:xfrm>
          <a:prstGeom prst="rect">
            <a:avLst/>
          </a:prstGeom>
        </p:spPr>
      </p:pic>
      <p:sp>
        <p:nvSpPr>
          <p:cNvPr id="12" name="Shape 8"/>
          <p:cNvSpPr/>
          <p:nvPr/>
        </p:nvSpPr>
        <p:spPr>
          <a:xfrm>
            <a:off x="8232775" y="1514317"/>
            <a:ext cx="3143250" cy="852170"/>
          </a:xfrm>
          <a:prstGeom prst="roundRect">
            <a:avLst>
              <a:gd name="adj" fmla="val 11550"/>
            </a:avLst>
          </a:prstGeom>
          <a:solidFill>
            <a:srgbClr val="FFFDF8"/>
          </a:solidFill>
          <a:ln w="6350">
            <a:solidFill>
              <a:srgbClr val="DDD6C8"/>
            </a:solidFill>
            <a:prstDash val="solid"/>
          </a:ln>
        </p:spPr>
      </p:sp>
      <p:sp>
        <p:nvSpPr>
          <p:cNvPr id="13" name="Text 9"/>
          <p:cNvSpPr/>
          <p:nvPr/>
        </p:nvSpPr>
        <p:spPr>
          <a:xfrm>
            <a:off x="8437880" y="1694021"/>
            <a:ext cx="2815031"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0243E"/>
                </a:solidFill>
                <a:latin typeface="IBM Plex Sans" pitchFamily="34" charset="0"/>
                <a:ea typeface="IBM Plex Sans" pitchFamily="34" charset="-122"/>
                <a:cs typeface="IBM Plex Sans" pitchFamily="34" charset="-120"/>
              </a:rPr>
              <a:t>Database</a:t>
            </a:r>
            <a:endParaRPr lang="en-US" sz="1500" dirty="0"/>
          </a:p>
        </p:txBody>
      </p:sp>
      <p:sp>
        <p:nvSpPr>
          <p:cNvPr id="14" name="Text 10"/>
          <p:cNvSpPr/>
          <p:nvPr/>
        </p:nvSpPr>
        <p:spPr>
          <a:xfrm>
            <a:off x="8437880" y="1973421"/>
            <a:ext cx="28150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PostgreSQL on Render’s free tier</a:t>
            </a:r>
            <a:endParaRPr lang="en-US" sz="1200" dirty="0"/>
          </a:p>
        </p:txBody>
      </p:sp>
      <p:pic>
        <p:nvPicPr>
          <p:cNvPr id="15" name="Image 2" descr="arrow-down">    </p:cNvPr>
          <p:cNvPicPr>
            <a:picLocks noChangeAspect="1"/>
          </p:cNvPicPr>
          <p:nvPr/>
        </p:nvPicPr>
        <p:blipFill>
          <a:blip r:embed="rId3"/>
          <a:srcRect l="0" r="0" t="0" b="0"/>
          <a:stretch/>
        </p:blipFill>
        <p:spPr>
          <a:xfrm>
            <a:off x="2260600" y="3686652"/>
            <a:ext cx="254000" cy="304800"/>
          </a:xfrm>
          <a:prstGeom prst="rect">
            <a:avLst/>
          </a:prstGeom>
        </p:spPr>
      </p:pic>
      <p:sp>
        <p:nvSpPr>
          <p:cNvPr id="16" name="Shape 11"/>
          <p:cNvSpPr/>
          <p:nvPr/>
        </p:nvSpPr>
        <p:spPr>
          <a:xfrm>
            <a:off x="4064000" y="-2635328"/>
            <a:ext cx="406400" cy="12948920"/>
          </a:xfrm>
          <a:prstGeom prst="roundRect">
            <a:avLst>
              <a:gd name="adj" fmla="val 25000"/>
            </a:avLst>
          </a:prstGeom>
          <a:solidFill>
            <a:srgbClr val="10243E"/>
          </a:solidFill>
          <a:ln/>
        </p:spPr>
      </p:sp>
      <p:sp>
        <p:nvSpPr>
          <p:cNvPr id="17" name="Text 12"/>
          <p:cNvSpPr/>
          <p:nvPr/>
        </p:nvSpPr>
        <p:spPr>
          <a:xfrm>
            <a:off x="4267200" y="-2457528"/>
            <a:ext cx="50800" cy="2540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6F3EC"/>
                </a:solidFill>
                <a:latin typeface="IBM Plex Sans" pitchFamily="34" charset="0"/>
                <a:ea typeface="IBM Plex Sans" pitchFamily="34" charset="-122"/>
                <a:cs typeface="IBM Plex Sans" pitchFamily="34" charset="-120"/>
              </a:rPr>
              <a:t>Free AI model</a:t>
            </a:r>
            <a:endParaRPr lang="en-US" sz="1500" dirty="0"/>
          </a:p>
        </p:txBody>
      </p:sp>
      <p:sp>
        <p:nvSpPr>
          <p:cNvPr id="18" name="Text 13"/>
          <p:cNvSpPr/>
          <p:nvPr/>
        </p:nvSpPr>
        <p:spPr>
          <a:xfrm>
            <a:off x="4267200" y="107872"/>
            <a:ext cx="50800" cy="100533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9D3E0"/>
                </a:solidFill>
                <a:latin typeface="IBM Plex Sans" pitchFamily="34" charset="0"/>
                <a:ea typeface="IBM Plex Sans" pitchFamily="34" charset="-122"/>
                <a:cs typeface="IBM Plex Sans" pitchFamily="34" charset="-120"/>
              </a:rPr>
              <a:t>Gemini via API, structured JSON; key stays on the server</a:t>
            </a:r>
            <a:endParaRPr lang="en-US" sz="1200" dirty="0"/>
          </a:p>
        </p:txBody>
      </p:sp>
      <p:sp>
        <p:nvSpPr>
          <p:cNvPr id="19" name="Shape 14"/>
          <p:cNvSpPr/>
          <p:nvPr/>
        </p:nvSpPr>
        <p:spPr>
          <a:xfrm>
            <a:off x="815975" y="5464094"/>
            <a:ext cx="10560050" cy="374729"/>
          </a:xfrm>
          <a:prstGeom prst="roundRect">
            <a:avLst>
              <a:gd name="adj" fmla="val 26266"/>
            </a:avLst>
          </a:prstGeom>
          <a:solidFill>
            <a:srgbClr val="FFFDF8"/>
          </a:solidFill>
          <a:ln w="6350">
            <a:solidFill>
              <a:srgbClr val="DDD6C8"/>
            </a:solidFill>
            <a:prstDash val="solid"/>
          </a:ln>
        </p:spPr>
      </p:sp>
      <p:sp>
        <p:nvSpPr>
          <p:cNvPr id="20" name="Text 15"/>
          <p:cNvSpPr/>
          <p:nvPr/>
        </p:nvSpPr>
        <p:spPr>
          <a:xfrm>
            <a:off x="1071880" y="5618404"/>
            <a:ext cx="10349687" cy="91519"/>
          </a:xfrm>
          <a:prstGeom prst="rect">
            <a:avLst/>
          </a:prstGeom>
          <a:noFill/>
          <a:ln/>
        </p:spPr>
        <p:txBody>
          <a:bodyPr wrap="square" lIns="0" tIns="0" rIns="0" bIns="0" rtlCol="0" anchor="t">
            <a:normAutofit/>
          </a:bodyPr>
          <a:lstStyle/>
          <a:p>
            <a:pPr algn="l" indent="0" marL="0">
              <a:lnSpc>
                <a:spcPts val="1176"/>
              </a:lnSpc>
              <a:buNone/>
            </a:pPr>
            <a:r>
              <a:rPr lang="en-US" sz="840" dirty="0">
                <a:solidFill>
                  <a:srgbClr val="10243E"/>
                </a:solidFill>
                <a:latin typeface="IBM Plex Sans" pitchFamily="34" charset="0"/>
                <a:ea typeface="IBM Plex Sans" pitchFamily="34" charset="-122"/>
                <a:cs typeface="IBM Plex Sans" pitchFamily="34" charset="-120"/>
              </a:rPr>
              <a:t>Docker on Render’s free tier · rate limits and a daily cap protect the free key · </a:t>
            </a:r>
            <a:r>
              <a:rPr lang="en-US" sz="840" b="1" dirty="0">
                <a:solidFill>
                  <a:srgbClr val="10243E"/>
                </a:solidFill>
                <a:latin typeface="IBM Plex Sans" pitchFamily="34" charset="0"/>
                <a:ea typeface="IBM Plex Sans" pitchFamily="34" charset="-122"/>
                <a:cs typeface="IBM Plex Sans" pitchFamily="34" charset="-120"/>
              </a:rPr>
              <a:t>$0 to run</a:t>
            </a:r>
            <a:endParaRPr lang="en-US" sz="840" dirty="0"/>
          </a:p>
        </p:txBody>
      </p:sp>
      <p:sp>
        <p:nvSpPr>
          <p:cNvPr id="21" name="Text 16"/>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22" name="Text 17"/>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6855"/>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76B66"/>
                </a:solidFill>
                <a:latin typeface="IBM Plex Sans" pitchFamily="34" charset="0"/>
                <a:ea typeface="IBM Plex Sans" pitchFamily="34" charset="-122"/>
                <a:cs typeface="IBM Plex Sans" pitchFamily="34" charset="-120"/>
              </a:rPr>
              <a:t>DELIVERY PLAN</a:t>
            </a:r>
            <a:endParaRPr lang="en-US" sz="1196" dirty="0"/>
          </a:p>
        </p:txBody>
      </p:sp>
      <p:sp>
        <p:nvSpPr>
          <p:cNvPr id="3" name="Text 1"/>
          <p:cNvSpPr/>
          <p:nvPr>
            <p:ph type="title"/>
          </p:nvPr>
        </p:nvSpPr>
        <p:spPr>
          <a:xfrm>
            <a:off x="812800" y="1278254"/>
            <a:ext cx="10883392" cy="523796"/>
          </a:xfrm>
          <a:prstGeom prst="rect">
            <a:avLst/>
          </a:prstGeom>
          <a:noFill/>
          <a:ln/>
        </p:spPr>
        <p:txBody>
          <a:bodyPr wrap="square" lIns="0" tIns="0" rIns="0" bIns="0" rtlCol="0" anchor="t">
            <a:normAutofit/>
          </a:bodyPr>
          <a:lstStyle/>
          <a:p>
            <a:pPr algn="l" indent="0" marL="0">
              <a:lnSpc>
                <a:spcPts val="3923"/>
              </a:lnSpc>
              <a:buNone/>
            </a:pPr>
            <a:r>
              <a:rPr lang="en-US" sz="3566" b="1" i="0" dirty="0">
                <a:solidFill>
                  <a:srgbClr val="10243E"/>
                </a:solidFill>
                <a:latin typeface="EB Garamond" pitchFamily="18" charset="0"/>
                <a:ea typeface="EB Garamond" pitchFamily="18" charset="-122"/>
                <a:cs typeface="EB Garamond" pitchFamily="18" charset="-120"/>
              </a:rPr>
              <a:t>Scoped to 13 hours, live by Day 7</a:t>
            </a:r>
            <a:endParaRPr lang="en-US" sz="3566"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2040814"/>
          <a:ext cx="10556240" cy="3801189"/>
        </p:xfrm>
        <a:graphic>
          <a:graphicData uri="http://schemas.openxmlformats.org/drawingml/2006/table">
            <a:tbl>
              <a:tblPr/>
              <a:tblGrid>
                <a:gridCol w="2111248"/>
                <a:gridCol w="1266749"/>
                <a:gridCol w="7178243"/>
              </a:tblGrid>
              <a:tr h="380048">
                <a:tc>
                  <a:txBody>
                    <a:bodyPr/>
                    <a:lstStyle/>
                    <a:p>
                      <a:pPr indent="0" marL="0">
                        <a:lnSpc>
                          <a:spcPts val="1942"/>
                        </a:lnSpc>
                        <a:buNone/>
                      </a:pPr>
                      <a:r>
                        <a:rPr lang="en-US" sz="1387" b="1" dirty="0">
                          <a:solidFill>
                            <a:srgbClr val="10243E"/>
                          </a:solidFill>
                          <a:latin typeface="IBM Plex Sans" pitchFamily="34" charset="0"/>
                          <a:ea typeface="IBM Plex Sans" pitchFamily="34" charset="-122"/>
                          <a:cs typeface="IBM Plex Sans" pitchFamily="34" charset="-120"/>
                        </a:rPr>
                        <a:t>Day</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42"/>
                        </a:lnSpc>
                        <a:buNone/>
                      </a:pPr>
                      <a:r>
                        <a:rPr lang="en-US" sz="1387" b="1" dirty="0">
                          <a:solidFill>
                            <a:srgbClr val="10243E"/>
                          </a:solidFill>
                          <a:latin typeface="IBM Plex Sans" pitchFamily="34" charset="0"/>
                          <a:ea typeface="IBM Plex Sans" pitchFamily="34" charset="-122"/>
                          <a:cs typeface="IBM Plex Sans" pitchFamily="34" charset="-120"/>
                        </a:rPr>
                        <a:t>Hours</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42"/>
                        </a:lnSpc>
                        <a:buNone/>
                      </a:pPr>
                      <a:r>
                        <a:rPr lang="en-US" sz="1387" b="1" dirty="0">
                          <a:solidFill>
                            <a:srgbClr val="10243E"/>
                          </a:solidFill>
                          <a:latin typeface="IBM Plex Sans" pitchFamily="34" charset="0"/>
                          <a:ea typeface="IBM Plex Sans" pitchFamily="34" charset="-122"/>
                          <a:cs typeface="IBM Plex Sans" pitchFamily="34" charset="-120"/>
                        </a:rPr>
                        <a:t>Outcome</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2 · Wed</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1</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Setup and running skeleton on GitHub</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3 · Thu</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1</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AI drafting proven end to end</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4 · Fri</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1</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Database and record model</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5 · Sat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3</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Capture, review and save</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6 · Sun</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3</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Browse, filter, edit, export and daily AI limit</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7 · Mon</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1</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First live deployment on Render</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8 · Tue</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1</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Polish and resilience</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9 · Wed</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1</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Testing and fixes</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0127">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Day 10 · Thu</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1</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42"/>
                        </a:lnSpc>
                        <a:buNone/>
                      </a:pPr>
                      <a:r>
                        <a:rPr lang="en-US" sz="1387" dirty="0">
                          <a:solidFill>
                            <a:srgbClr val="10243E"/>
                          </a:solidFill>
                          <a:latin typeface="IBM Plex Sans" pitchFamily="34" charset="0"/>
                          <a:ea typeface="IBM Plex Sans" pitchFamily="34" charset="-122"/>
                          <a:cs typeface="IBM Plex Sans" pitchFamily="34" charset="-120"/>
                        </a:rPr>
                        <a:t>Release v1.0: README, demo script, final deck</a:t>
                      </a:r>
                      <a:endParaRPr lang="en-US" sz="1387" dirty="0">
                        <a:latin typeface="IBM Plex Sans" charset="0"/>
                        <a:ea typeface="IBM Plex Sans" charset="0"/>
                        <a:cs typeface="IBM Plex Sans" charset="0"/>
                      </a:endParaRPr>
                    </a:p>
                  </a:txBody>
                  <a:tcPr marL="61647" marR="61647" marT="61647" marB="61647"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6" name="Text 3"/>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76B66"/>
                </a:solidFill>
                <a:latin typeface="IBM Plex Sans" pitchFamily="34" charset="0"/>
                <a:ea typeface="IBM Plex Sans" pitchFamily="34" charset="-122"/>
                <a:cs typeface="IBM Plex Sans" pitchFamily="34" charset="-120"/>
              </a:rPr>
              <a:t>FUTURE SCOPE</a:t>
            </a:r>
            <a:endParaRPr lang="en-US" sz="1200" dirty="0"/>
          </a:p>
        </p:txBody>
      </p:sp>
      <p:sp>
        <p:nvSpPr>
          <p:cNvPr id="3" name="Text 1"/>
          <p:cNvSpPr/>
          <p:nvPr>
            <p:ph type="title"/>
          </p:nvPr>
        </p:nvSpPr>
        <p:spPr>
          <a:xfrm>
            <a:off x="812800" y="12801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0243E"/>
                </a:solidFill>
                <a:latin typeface="EB Garamond" pitchFamily="18" charset="0"/>
                <a:ea typeface="EB Garamond" pitchFamily="18" charset="-122"/>
                <a:cs typeface="EB Garamond" pitchFamily="18" charset="-120"/>
              </a:rPr>
              <a:t>From capture tool to searchable decision memory</a:t>
            </a:r>
            <a:endParaRPr lang="en-US" sz="3600" dirty="0"/>
          </a:p>
        </p:txBody>
      </p:sp>
      <p:sp>
        <p:nvSpPr>
          <p:cNvPr id="4" name="Shape 2"/>
          <p:cNvSpPr/>
          <p:nvPr/>
        </p:nvSpPr>
        <p:spPr>
          <a:xfrm>
            <a:off x="815975" y="2040254"/>
            <a:ext cx="5175250" cy="2442210"/>
          </a:xfrm>
          <a:prstGeom prst="roundRect">
            <a:avLst>
              <a:gd name="adj" fmla="val 4030"/>
            </a:avLst>
          </a:prstGeom>
          <a:solidFill>
            <a:srgbClr val="FFFDF8"/>
          </a:solidFill>
          <a:ln w="6350">
            <a:solidFill>
              <a:srgbClr val="DDD6C8"/>
            </a:solidFill>
            <a:prstDash val="solid"/>
          </a:ln>
        </p:spPr>
      </p:sp>
      <p:sp>
        <p:nvSpPr>
          <p:cNvPr id="5" name="Text 3"/>
          <p:cNvSpPr/>
          <p:nvPr/>
        </p:nvSpPr>
        <p:spPr>
          <a:xfrm>
            <a:off x="1071880" y="2296164"/>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Next</a:t>
            </a:r>
            <a:endParaRPr lang="en-US" sz="2000" dirty="0"/>
          </a:p>
        </p:txBody>
      </p:sp>
      <p:sp>
        <p:nvSpPr>
          <p:cNvPr id="6" name="Text 4"/>
          <p:cNvSpPr/>
          <p:nvPr/>
        </p:nvSpPr>
        <p:spPr>
          <a:xfrm>
            <a:off x="1143000" y="2702564"/>
            <a:ext cx="4724603" cy="1244600"/>
          </a:xfrm>
          <a:prstGeom prst="rect">
            <a:avLst/>
          </a:prstGeom>
          <a:noFill/>
          <a:ln/>
        </p:spPr>
        <p:txBody>
          <a:bodyPr wrap="square" lIns="0" tIns="0" rIns="0" bIns="0" rtlCol="0" anchor="t">
            <a:normAutofit/>
          </a:bodyPr>
          <a:lstStyle/>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Keyword search across records</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Summary dashboard by phase and domain</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Linked and superseding decisions</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More record templates</a:t>
            </a:r>
            <a:endParaRPr lang="en-US" sz="1500" dirty="0"/>
          </a:p>
        </p:txBody>
      </p:sp>
      <p:sp>
        <p:nvSpPr>
          <p:cNvPr id="7" name="Shape 5"/>
          <p:cNvSpPr/>
          <p:nvPr/>
        </p:nvSpPr>
        <p:spPr>
          <a:xfrm>
            <a:off x="6200775" y="2040254"/>
            <a:ext cx="5175250" cy="2442210"/>
          </a:xfrm>
          <a:prstGeom prst="roundRect">
            <a:avLst>
              <a:gd name="adj" fmla="val 4030"/>
            </a:avLst>
          </a:prstGeom>
          <a:solidFill>
            <a:srgbClr val="FFFDF8"/>
          </a:solidFill>
          <a:ln w="6350">
            <a:solidFill>
              <a:srgbClr val="DDD6C8"/>
            </a:solidFill>
            <a:prstDash val="solid"/>
          </a:ln>
        </p:spPr>
      </p:sp>
      <p:sp>
        <p:nvSpPr>
          <p:cNvPr id="8" name="Text 6"/>
          <p:cNvSpPr/>
          <p:nvPr/>
        </p:nvSpPr>
        <p:spPr>
          <a:xfrm>
            <a:off x="6456680" y="2296164"/>
            <a:ext cx="480334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0243E"/>
                </a:solidFill>
                <a:latin typeface="IBM Plex Sans" pitchFamily="34" charset="0"/>
                <a:ea typeface="IBM Plex Sans" pitchFamily="34" charset="-122"/>
                <a:cs typeface="IBM Plex Sans" pitchFamily="34" charset="-120"/>
              </a:rPr>
              <a:t>Later</a:t>
            </a:r>
            <a:endParaRPr lang="en-US" sz="2000" dirty="0"/>
          </a:p>
        </p:txBody>
      </p:sp>
      <p:sp>
        <p:nvSpPr>
          <p:cNvPr id="9" name="Text 7"/>
          <p:cNvSpPr/>
          <p:nvPr/>
        </p:nvSpPr>
        <p:spPr>
          <a:xfrm>
            <a:off x="6527800" y="2702564"/>
            <a:ext cx="4724603" cy="1549400"/>
          </a:xfrm>
          <a:prstGeom prst="rect">
            <a:avLst/>
          </a:prstGeom>
          <a:noFill/>
          <a:ln/>
        </p:spPr>
        <p:txBody>
          <a:bodyPr wrap="square" lIns="0" tIns="0" rIns="0" bIns="0" rtlCol="0" anchor="t">
            <a:normAutofit/>
          </a:bodyPr>
          <a:lstStyle/>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User accounts and approval roles</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Teams, Slack, Jira and email imports</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Transcript and file upload</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Word and PDF generation</a:t>
            </a:r>
            <a:endParaRPr lang="en-US" sz="1500" dirty="0"/>
          </a:p>
          <a:p>
            <a:pPr algn="l" marL="182880" indent="-182880">
              <a:lnSpc>
                <a:spcPts val="2400"/>
              </a:lnSpc>
              <a:buSzPct val="100000"/>
              <a:buChar char="•"/>
            </a:pPr>
            <a:r>
              <a:rPr lang="en-US" sz="1500" dirty="0">
                <a:solidFill>
                  <a:srgbClr val="4A5568"/>
                </a:solidFill>
                <a:latin typeface="IBM Plex Sans" pitchFamily="34" charset="0"/>
                <a:ea typeface="IBM Plex Sans" pitchFamily="34" charset="-122"/>
                <a:cs typeface="IBM Plex Sans" pitchFamily="34" charset="-120"/>
              </a:rPr>
              <a:t>Private AI for confidential decisions</a:t>
            </a:r>
            <a:endParaRPr lang="en-US" sz="1500" dirty="0"/>
          </a:p>
        </p:txBody>
      </p:sp>
      <p:sp>
        <p:nvSpPr>
          <p:cNvPr id="10" name="Text 8"/>
          <p:cNvSpPr/>
          <p:nvPr/>
        </p:nvSpPr>
        <p:spPr>
          <a:xfrm>
            <a:off x="812800" y="6238242"/>
            <a:ext cx="58864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DecisionLens · TOGAF capstone</a:t>
            </a:r>
            <a:endParaRPr lang="en-US" sz="1200" dirty="0"/>
          </a:p>
        </p:txBody>
      </p:sp>
      <p:sp>
        <p:nvSpPr>
          <p:cNvPr id="11" name="Text 9"/>
          <p:cNvSpPr/>
          <p:nvPr/>
        </p:nvSpPr>
        <p:spPr>
          <a:xfrm>
            <a:off x="10058400" y="6238242"/>
            <a:ext cx="1320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8"/>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3A02B"/>
        </a:solidFill>
      </p:bgPr>
    </p:bg>
    <p:spTree>
      <p:nvGrpSpPr>
        <p:cNvPr id="1" name=""/>
        <p:cNvGrpSpPr/>
        <p:nvPr/>
      </p:nvGrpSpPr>
      <p:grpSpPr>
        <a:xfrm>
          <a:off x="0" y="0"/>
          <a:ext cx="0" cy="0"/>
          <a:chOff x="0" y="0"/>
          <a:chExt cx="0" cy="0"/>
        </a:xfrm>
      </p:grpSpPr>
      <p:sp>
        <p:nvSpPr>
          <p:cNvPr id="2" name="Text 0"/>
          <p:cNvSpPr/>
          <p:nvPr/>
        </p:nvSpPr>
        <p:spPr>
          <a:xfrm>
            <a:off x="812800" y="186309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0243E"/>
                </a:solidFill>
                <a:latin typeface="IBM Plex Sans" pitchFamily="34" charset="0"/>
                <a:ea typeface="IBM Plex Sans" pitchFamily="34" charset="-122"/>
                <a:cs typeface="IBM Plex Sans" pitchFamily="34" charset="-120"/>
              </a:rPr>
              <a:t>VISION</a:t>
            </a:r>
            <a:endParaRPr lang="en-US" sz="1200" dirty="0"/>
          </a:p>
        </p:txBody>
      </p:sp>
      <p:sp>
        <p:nvSpPr>
          <p:cNvPr id="3" name="Text 1"/>
          <p:cNvSpPr/>
          <p:nvPr>
            <p:ph type="title"/>
          </p:nvPr>
        </p:nvSpPr>
        <p:spPr>
          <a:xfrm>
            <a:off x="812800" y="2381250"/>
            <a:ext cx="10883392" cy="203708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0243E"/>
                </a:solidFill>
                <a:latin typeface="EB Garamond" pitchFamily="18" charset="0"/>
                <a:ea typeface="EB Garamond" pitchFamily="18" charset="-122"/>
                <a:cs typeface="EB Garamond" pitchFamily="18" charset="-120"/>
              </a:rPr>
              <a:t>Every architecture decision captured in minutes, tagged to TOGAF, and findable years later.</a:t>
            </a:r>
            <a:endParaRPr lang="en-US" sz="4800" dirty="0"/>
          </a:p>
        </p:txBody>
      </p:sp>
      <p:sp>
        <p:nvSpPr>
          <p:cNvPr id="4" name="Text 2"/>
          <p:cNvSpPr/>
          <p:nvPr/>
        </p:nvSpPr>
        <p:spPr>
          <a:xfrm>
            <a:off x="812800" y="4697729"/>
            <a:ext cx="10883392" cy="32258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10243E"/>
                </a:solidFill>
                <a:latin typeface="IBM Plex Sans" pitchFamily="34" charset="0"/>
                <a:ea typeface="IBM Plex Sans" pitchFamily="34" charset="-122"/>
                <a:cs typeface="IBM Plex Sans" pitchFamily="34" charset="-120"/>
              </a:rPr>
              <a:t>No one should have to ask why a system was built the way it was.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243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E3A02B"/>
                </a:solidFill>
                <a:latin typeface="IBM Plex Sans" pitchFamily="34" charset="0"/>
                <a:ea typeface="IBM Plex Sans" pitchFamily="34" charset="-122"/>
                <a:cs typeface="IBM Plex Sans" pitchFamily="34" charset="-120"/>
              </a:rPr>
              <a:t>TRY IT</a:t>
            </a:r>
            <a:endParaRPr lang="en-US" sz="1200" dirty="0"/>
          </a:p>
        </p:txBody>
      </p:sp>
      <p:sp>
        <p:nvSpPr>
          <p:cNvPr id="3" name="Text 1"/>
          <p:cNvSpPr/>
          <p:nvPr>
            <p:ph type="title"/>
          </p:nvPr>
        </p:nvSpPr>
        <p:spPr>
          <a:xfrm>
            <a:off x="812800" y="2477771"/>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6F3EC"/>
                </a:solidFill>
                <a:latin typeface="EB Garamond" pitchFamily="18" charset="0"/>
                <a:ea typeface="EB Garamond" pitchFamily="18" charset="-122"/>
                <a:cs typeface="EB Garamond" pitchFamily="18" charset="-120"/>
              </a:rPr>
              <a:t>Thank you</a:t>
            </a:r>
            <a:endParaRPr lang="en-US" sz="6000" dirty="0"/>
          </a:p>
        </p:txBody>
      </p:sp>
      <p:sp>
        <p:nvSpPr>
          <p:cNvPr id="4" name="Text 2"/>
          <p:cNvSpPr/>
          <p:nvPr/>
        </p:nvSpPr>
        <p:spPr>
          <a:xfrm>
            <a:off x="812800" y="3481071"/>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E0"/>
                </a:solidFill>
                <a:latin typeface="IBM Plex Sans" pitchFamily="34" charset="0"/>
                <a:ea typeface="IBM Plex Sans" pitchFamily="34" charset="-122"/>
                <a:cs typeface="IBM Plex Sans" pitchFamily="34" charset="-120"/>
              </a:rPr>
              <a:t>Live app: [URL added on Day 10]</a:t>
            </a:r>
            <a:endParaRPr lang="en-US" sz="2000" dirty="0"/>
          </a:p>
        </p:txBody>
      </p:sp>
      <p:sp>
        <p:nvSpPr>
          <p:cNvPr id="5" name="Text 3"/>
          <p:cNvSpPr/>
          <p:nvPr/>
        </p:nvSpPr>
        <p:spPr>
          <a:xfrm>
            <a:off x="812800" y="4014471"/>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9D3E0"/>
                </a:solidFill>
                <a:latin typeface="IBM Plex Sans" pitchFamily="34" charset="0"/>
                <a:ea typeface="IBM Plex Sans" pitchFamily="34" charset="-122"/>
                <a:cs typeface="IBM Plex Sans" pitchFamily="34" charset="-120"/>
              </a:rPr>
              <a:t>Source code: [GitHub repository link]</a:t>
            </a:r>
            <a:endParaRPr lang="en-US" sz="2000" dirty="0"/>
          </a:p>
        </p:txBody>
      </p:sp>
      <p:sp>
        <p:nvSpPr>
          <p:cNvPr id="6" name="Text 4"/>
          <p:cNvSpPr/>
          <p:nvPr/>
        </p:nvSpPr>
        <p:spPr>
          <a:xfrm>
            <a:off x="812800" y="5796279"/>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8FA3BF"/>
                </a:solidFill>
                <a:latin typeface="IBM Plex Sans" pitchFamily="34" charset="0"/>
                <a:ea typeface="IBM Plex Sans" pitchFamily="34" charset="-122"/>
                <a:cs typeface="IBM Plex Sans" pitchFamily="34" charset="-120"/>
              </a:rPr>
              <a:t>Use fictional or sanitized text only. Every record is visible to anyone with the link.</a:t>
            </a:r>
            <a:endParaRPr lang="en-US" sz="1400" dirty="0"/>
          </a:p>
        </p:txBody>
      </p:sp>
    </p:spTree>
  </p:cSld>
  <p:clrMapOvr>
    <a:masterClrMapping/>
  </p:clrMapOvr>
</p:sld>
</file>

<file path=ppt/theme/theme1.xml><?xml version="1.0" encoding="utf-8"?>
<a:theme xmlns:a="http://schemas.openxmlformats.org/drawingml/2006/main" name="DecisionLens Pitch Deck">
  <a:themeElements>
    <a:clrScheme name="DecisionLens Pitch Deck">
      <a:dk1>
        <a:srgbClr val="10243E"/>
      </a:dk1>
      <a:lt1>
        <a:srgbClr val="F6F3EC"/>
      </a:lt1>
      <a:dk2>
        <a:srgbClr val="4A586A"/>
      </a:dk2>
      <a:lt2>
        <a:srgbClr val="DFDEDB"/>
      </a:lt2>
      <a:accent1>
        <a:srgbClr val="176B66"/>
      </a:accent1>
      <a:accent2>
        <a:srgbClr val="E3A02B"/>
      </a:accent2>
      <a:accent3>
        <a:srgbClr val="8FA3BF"/>
      </a:accent3>
      <a:accent4>
        <a:srgbClr val="4A5568"/>
      </a:accent4>
      <a:accent5>
        <a:srgbClr val="5B6678"/>
      </a:accent5>
      <a:accent6>
        <a:srgbClr val="C9D3E0"/>
      </a:accent6>
      <a:hlink>
        <a:srgbClr val="0563C1"/>
      </a:hlink>
      <a:folHlink>
        <a:srgbClr val="954F72"/>
      </a:folHlink>
    </a:clrScheme>
    <a:fontScheme name="DecisionLens Pitch Deck">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DecisionLens Pitch Deck</dc:title>
  <dc:subject/>
  <dc:creator/>
  <cp:lastModifiedBy/>
  <cp:revision>1</cp:revision>
  <dcterms:created xsi:type="dcterms:W3CDTF">2026-10-20T10:32:41Z</dcterms:created>
  <dcterms:modified xsi:type="dcterms:W3CDTF">2026-10-20T10:32:41Z</dcterms:modified>
</cp:coreProperties>
</file>